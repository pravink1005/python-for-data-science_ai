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79" r:id="rId6"/>
    <p:sldId id="280" r:id="rId7"/>
    <p:sldId id="278" r:id="rId8"/>
    <p:sldId id="281" r:id="rId9"/>
    <p:sldId id="260" r:id="rId10"/>
    <p:sldId id="263" r:id="rId11"/>
    <p:sldId id="264" r:id="rId12"/>
    <p:sldId id="265" r:id="rId13"/>
    <p:sldId id="266" r:id="rId14"/>
    <p:sldId id="267" r:id="rId15"/>
    <p:sldId id="282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8BDF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jp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jpg"/><Relationship Id="rId5" Type="http://schemas.microsoft.com/office/2007/relationships/hdphoto" Target="../media/hdphoto1.wdp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jp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svg"/><Relationship Id="rId3" Type="http://schemas.openxmlformats.org/officeDocument/2006/relationships/image" Target="../media/image13.png"/><Relationship Id="rId7" Type="http://schemas.openxmlformats.org/officeDocument/2006/relationships/image" Target="../media/image16.svg"/><Relationship Id="rId12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11" Type="http://schemas.openxmlformats.org/officeDocument/2006/relationships/image" Target="../media/image20.svg"/><Relationship Id="rId5" Type="http://schemas.openxmlformats.org/officeDocument/2006/relationships/image" Target="../media/image15.png"/><Relationship Id="rId10" Type="http://schemas.openxmlformats.org/officeDocument/2006/relationships/image" Target="../media/image19.svg"/><Relationship Id="rId4" Type="http://schemas.openxmlformats.org/officeDocument/2006/relationships/image" Target="../media/image14.png"/><Relationship Id="rId9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Relationship Id="rId9" Type="http://schemas.openxmlformats.org/officeDocument/2006/relationships/image" Target="../media/image2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jpg"/><Relationship Id="rId4" Type="http://schemas.microsoft.com/office/2007/relationships/hdphoto" Target="../media/hdphoto2.wdp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28.png"/><Relationship Id="rId7" Type="http://schemas.openxmlformats.org/officeDocument/2006/relationships/image" Target="../media/image3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Relationship Id="rId9" Type="http://schemas.openxmlformats.org/officeDocument/2006/relationships/image" Target="../media/image2.jp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jpg"/><Relationship Id="rId4" Type="http://schemas.openxmlformats.org/officeDocument/2006/relationships/image" Target="../media/image3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7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jpg"/><Relationship Id="rId4" Type="http://schemas.openxmlformats.org/officeDocument/2006/relationships/image" Target="../media/image41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png"/><Relationship Id="rId3" Type="http://schemas.openxmlformats.org/officeDocument/2006/relationships/image" Target="../media/image42.png"/><Relationship Id="rId7" Type="http://schemas.openxmlformats.org/officeDocument/2006/relationships/image" Target="../media/image4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5.png"/><Relationship Id="rId5" Type="http://schemas.openxmlformats.org/officeDocument/2006/relationships/image" Target="../media/image44.png"/><Relationship Id="rId4" Type="http://schemas.openxmlformats.org/officeDocument/2006/relationships/image" Target="../media/image43.png"/><Relationship Id="rId9" Type="http://schemas.openxmlformats.org/officeDocument/2006/relationships/image" Target="../media/image2.jp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jpg"/><Relationship Id="rId4" Type="http://schemas.openxmlformats.org/officeDocument/2006/relationships/image" Target="../media/image49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7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3.png"/><Relationship Id="rId5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jpg"/><Relationship Id="rId4" Type="http://schemas.openxmlformats.org/officeDocument/2006/relationships/image" Target="../media/image55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.png"/><Relationship Id="rId3" Type="http://schemas.openxmlformats.org/officeDocument/2006/relationships/image" Target="../media/image28.png"/><Relationship Id="rId7" Type="http://schemas.openxmlformats.org/officeDocument/2006/relationships/image" Target="../media/image5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6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Relationship Id="rId9" Type="http://schemas.openxmlformats.org/officeDocument/2006/relationships/image" Target="../media/image2.jp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jpg"/><Relationship Id="rId4" Type="http://schemas.openxmlformats.org/officeDocument/2006/relationships/image" Target="../media/image59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jpg"/><Relationship Id="rId4" Type="http://schemas.openxmlformats.org/officeDocument/2006/relationships/image" Target="../media/image61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7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5.png"/><Relationship Id="rId5" Type="http://schemas.openxmlformats.org/officeDocument/2006/relationships/image" Target="../media/image64.png"/><Relationship Id="rId4" Type="http://schemas.openxmlformats.org/officeDocument/2006/relationships/image" Target="../media/image6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950923" y="2823269"/>
            <a:ext cx="6290004" cy="59144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4657"/>
              </a:lnSpc>
            </a:pPr>
            <a:r>
              <a:rPr sz="4050" b="1" i="0" u="none">
                <a:solidFill>
                  <a:srgbClr val="F8FAFC"/>
                </a:solidFill>
                <a:latin typeface="Space Grotesk"/>
              </a:rPr>
              <a:t>Intro to Data Science &amp;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67025" y="3681412"/>
            <a:ext cx="6457950" cy="59195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441"/>
              </a:lnSpc>
            </a:pPr>
            <a:r>
              <a:rPr sz="1575" b="0" i="0" u="none" dirty="0">
                <a:solidFill>
                  <a:srgbClr val="CBD5E1"/>
                </a:solidFill>
                <a:latin typeface="Plus Jakarta Sans"/>
              </a:rPr>
              <a:t>A Comprehensive 2-Hour Intensive Session</a:t>
            </a:r>
            <a:r>
              <a:rPr dirty="0"/>
              <a:t>
</a:t>
            </a:r>
            <a:r>
              <a:rPr sz="1575" b="1" i="0" u="none" dirty="0">
                <a:solidFill>
                  <a:srgbClr val="CBD5E1"/>
                </a:solidFill>
                <a:latin typeface="Plus Jakarta Sans"/>
              </a:rPr>
              <a:t>Theory (1 </a:t>
            </a:r>
            <a:r>
              <a:rPr sz="1575" b="1" i="0" u="none" dirty="0" err="1">
                <a:solidFill>
                  <a:srgbClr val="CBD5E1"/>
                </a:solidFill>
                <a:latin typeface="Plus Jakarta Sans"/>
              </a:rPr>
              <a:t>Hr</a:t>
            </a:r>
            <a:r>
              <a:rPr sz="1575" b="1" i="0" u="none" dirty="0">
                <a:solidFill>
                  <a:srgbClr val="CBD5E1"/>
                </a:solidFill>
                <a:latin typeface="Plus Jakarta Sans"/>
              </a:rPr>
              <a:t>)  |  Practical Lab &amp; Discussion (1 </a:t>
            </a:r>
            <a:r>
              <a:rPr sz="1575" b="1" i="0" u="none" dirty="0" err="1">
                <a:solidFill>
                  <a:srgbClr val="CBD5E1"/>
                </a:solidFill>
                <a:latin typeface="Plus Jakarta Sans"/>
              </a:rPr>
              <a:t>Hr</a:t>
            </a:r>
            <a:r>
              <a:rPr sz="1575" b="1" i="0" u="none" dirty="0">
                <a:solidFill>
                  <a:srgbClr val="CBD5E1"/>
                </a:solidFill>
                <a:latin typeface="Plus Jakarta Sans"/>
              </a:rPr>
              <a:t>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E8A1EE8-C470-E4EC-1468-6759502741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57063" y="98323"/>
            <a:ext cx="1367788" cy="144534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2176164"/>
            <a:ext cx="5348287" cy="331529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2687" y="2176164"/>
            <a:ext cx="5348287" cy="331529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6300" y="2471439"/>
            <a:ext cx="723900" cy="2667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76300" y="2852439"/>
            <a:ext cx="4995624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38BDF8"/>
                </a:solidFill>
                <a:latin typeface="Space Grotesk"/>
              </a:rPr>
              <a:t>Daily Theory Session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57962" y="2471439"/>
            <a:ext cx="752475" cy="2667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557962" y="2852439"/>
            <a:ext cx="4995624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38BDF8"/>
                </a:solidFill>
                <a:latin typeface="Space Grotesk"/>
              </a:rPr>
              <a:t>Daily Practical Lab &amp; Discussion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1075" y="3216056"/>
            <a:ext cx="85725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75" b="0" i="0" u="none">
                <a:solidFill>
                  <a:srgbClr val="94A3B8"/>
                </a:solidFill>
                <a:latin typeface="Plus Jakarta Sans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6800" y="3214389"/>
            <a:ext cx="4567237" cy="250924"/>
          </a:xfrm>
          <a:prstGeom prst="rect">
            <a:avLst/>
          </a:prstGeom>
          <a:noFill/>
        </p:spPr>
        <p:txBody>
          <a:bodyPr wrap="square" lIns="85725" tIns="0" rIns="0" bIns="0" anchor="t">
            <a:spAutoFit/>
          </a:bodyPr>
          <a:lstStyle/>
          <a:p>
            <a:pPr algn="l">
              <a:lnSpc>
                <a:spcPts val="1976"/>
              </a:lnSpc>
            </a:pPr>
            <a:r>
              <a:rPr sz="1275" b="0" i="0" u="none">
                <a:solidFill>
                  <a:srgbClr val="94A3B8"/>
                </a:solidFill>
                <a:latin typeface="Plus Jakarta Sans"/>
              </a:rPr>
              <a:t>Definition, Scope &amp; Value of Data Science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1075" y="3562230"/>
            <a:ext cx="85725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75" b="0" i="0" u="none">
                <a:solidFill>
                  <a:srgbClr val="94A3B8"/>
                </a:solidFill>
                <a:latin typeface="Plus Jakarta Sans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6800" y="3560564"/>
            <a:ext cx="4567237" cy="250924"/>
          </a:xfrm>
          <a:prstGeom prst="rect">
            <a:avLst/>
          </a:prstGeom>
          <a:noFill/>
        </p:spPr>
        <p:txBody>
          <a:bodyPr wrap="square" lIns="85725" tIns="0" rIns="0" bIns="0" anchor="t">
            <a:spAutoFit/>
          </a:bodyPr>
          <a:lstStyle/>
          <a:p>
            <a:pPr algn="l">
              <a:lnSpc>
                <a:spcPts val="1976"/>
              </a:lnSpc>
            </a:pPr>
            <a:r>
              <a:rPr sz="1275" b="0" i="0" u="none">
                <a:solidFill>
                  <a:srgbClr val="94A3B8"/>
                </a:solidFill>
                <a:latin typeface="Plus Jakarta Sans"/>
              </a:rPr>
              <a:t>End-to-End Data Science Lifecycle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1075" y="3908405"/>
            <a:ext cx="85725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75" b="0" i="0" u="none">
                <a:solidFill>
                  <a:srgbClr val="94A3B8"/>
                </a:solidFill>
                <a:latin typeface="Plus Jakarta Sans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6800" y="3906738"/>
            <a:ext cx="4567237" cy="250924"/>
          </a:xfrm>
          <a:prstGeom prst="rect">
            <a:avLst/>
          </a:prstGeom>
          <a:noFill/>
        </p:spPr>
        <p:txBody>
          <a:bodyPr wrap="square" lIns="85725" tIns="0" rIns="0" bIns="0" anchor="t">
            <a:spAutoFit/>
          </a:bodyPr>
          <a:lstStyle/>
          <a:p>
            <a:pPr algn="l">
              <a:lnSpc>
                <a:spcPts val="1976"/>
              </a:lnSpc>
            </a:pPr>
            <a:r>
              <a:rPr sz="1275" b="0" i="0" u="none">
                <a:solidFill>
                  <a:srgbClr val="94A3B8"/>
                </a:solidFill>
                <a:latin typeface="Plus Jakarta Sans"/>
              </a:rPr>
              <a:t>Core AI Taxonomy: AI vs. ML vs. DL vs. GenAI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81075" y="4254579"/>
            <a:ext cx="85725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75" b="0" i="0" u="none">
                <a:solidFill>
                  <a:srgbClr val="94A3B8"/>
                </a:solidFill>
                <a:latin typeface="Plus Jakarta Sans"/>
              </a:rPr>
              <a:t>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6800" y="4252912"/>
            <a:ext cx="4567237" cy="501848"/>
          </a:xfrm>
          <a:prstGeom prst="rect">
            <a:avLst/>
          </a:prstGeom>
          <a:noFill/>
        </p:spPr>
        <p:txBody>
          <a:bodyPr wrap="square" lIns="85725" tIns="0" rIns="0" bIns="0" anchor="t">
            <a:spAutoFit/>
          </a:bodyPr>
          <a:lstStyle/>
          <a:p>
            <a:pPr algn="l">
              <a:lnSpc>
                <a:spcPts val="1976"/>
              </a:lnSpc>
            </a:pPr>
            <a:r>
              <a:rPr sz="1275" b="0" i="0" u="none">
                <a:solidFill>
                  <a:srgbClr val="94A3B8"/>
                </a:solidFill>
                <a:latin typeface="Plus Jakarta Sans"/>
              </a:rPr>
              <a:t>Overview of Supervised, Unsupervised &amp; Reinforcement Learning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81075" y="4851677"/>
            <a:ext cx="85725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75" b="0" i="0" u="none">
                <a:solidFill>
                  <a:srgbClr val="94A3B8"/>
                </a:solidFill>
                <a:latin typeface="Plus Jakarta Sans"/>
              </a:rPr>
              <a:t>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6800" y="4850010"/>
            <a:ext cx="4567237" cy="250924"/>
          </a:xfrm>
          <a:prstGeom prst="rect">
            <a:avLst/>
          </a:prstGeom>
          <a:noFill/>
        </p:spPr>
        <p:txBody>
          <a:bodyPr wrap="square" lIns="85725" tIns="0" rIns="0" bIns="0" anchor="t">
            <a:spAutoFit/>
          </a:bodyPr>
          <a:lstStyle/>
          <a:p>
            <a:pPr algn="l">
              <a:lnSpc>
                <a:spcPts val="1976"/>
              </a:lnSpc>
            </a:pPr>
            <a:r>
              <a:rPr sz="1275" b="0" i="0" u="none">
                <a:solidFill>
                  <a:srgbClr val="94A3B8"/>
                </a:solidFill>
                <a:latin typeface="Plus Jakarta Sans"/>
              </a:rPr>
              <a:t>Roles &amp; Skillsets in Modern Data Teams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62737" y="3216056"/>
            <a:ext cx="85725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75" b="0" i="0" u="none">
                <a:solidFill>
                  <a:srgbClr val="94A3B8"/>
                </a:solidFill>
                <a:latin typeface="Plus Jakarta Sans"/>
              </a:rPr>
              <a:t>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48462" y="3214389"/>
            <a:ext cx="4567237" cy="250924"/>
          </a:xfrm>
          <a:prstGeom prst="rect">
            <a:avLst/>
          </a:prstGeom>
          <a:noFill/>
        </p:spPr>
        <p:txBody>
          <a:bodyPr wrap="square" lIns="85725" tIns="0" rIns="0" bIns="0" anchor="t">
            <a:spAutoFit/>
          </a:bodyPr>
          <a:lstStyle/>
          <a:p>
            <a:pPr algn="l">
              <a:lnSpc>
                <a:spcPts val="1976"/>
              </a:lnSpc>
            </a:pPr>
            <a:r>
              <a:rPr sz="1275" b="0" i="0" u="none">
                <a:solidFill>
                  <a:srgbClr val="94A3B8"/>
                </a:solidFill>
                <a:latin typeface="Plus Jakarta Sans"/>
              </a:rPr>
              <a:t>Interactive Coding: Jupyter &amp; Google Colab Setup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62737" y="3562230"/>
            <a:ext cx="85725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75" b="0" i="0" u="none">
                <a:solidFill>
                  <a:srgbClr val="94A3B8"/>
                </a:solidFill>
                <a:latin typeface="Plus Jakarta Sans"/>
              </a:rPr>
              <a:t>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48462" y="3560564"/>
            <a:ext cx="4567237" cy="250924"/>
          </a:xfrm>
          <a:prstGeom prst="rect">
            <a:avLst/>
          </a:prstGeom>
          <a:noFill/>
        </p:spPr>
        <p:txBody>
          <a:bodyPr wrap="square" lIns="85725" tIns="0" rIns="0" bIns="0" anchor="t">
            <a:spAutoFit/>
          </a:bodyPr>
          <a:lstStyle/>
          <a:p>
            <a:pPr algn="l">
              <a:lnSpc>
                <a:spcPts val="1976"/>
              </a:lnSpc>
            </a:pPr>
            <a:r>
              <a:rPr sz="1275" b="0" i="0" u="none">
                <a:solidFill>
                  <a:srgbClr val="94A3B8"/>
                </a:solidFill>
                <a:latin typeface="Plus Jakarta Sans"/>
              </a:rPr>
              <a:t>Configuring Virtual Environments &amp; Package Managers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62737" y="3908405"/>
            <a:ext cx="85725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75" b="0" i="0" u="none">
                <a:solidFill>
                  <a:srgbClr val="94A3B8"/>
                </a:solidFill>
                <a:latin typeface="Plus Jakarta Sans"/>
              </a:rPr>
              <a:t>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48462" y="3906738"/>
            <a:ext cx="4567237" cy="250924"/>
          </a:xfrm>
          <a:prstGeom prst="rect">
            <a:avLst/>
          </a:prstGeom>
          <a:noFill/>
        </p:spPr>
        <p:txBody>
          <a:bodyPr wrap="square" lIns="85725" tIns="0" rIns="0" bIns="0" anchor="t">
            <a:spAutoFit/>
          </a:bodyPr>
          <a:lstStyle/>
          <a:p>
            <a:pPr algn="l">
              <a:lnSpc>
                <a:spcPts val="1976"/>
              </a:lnSpc>
            </a:pPr>
            <a:r>
              <a:rPr sz="1275" b="0" i="0" u="none">
                <a:solidFill>
                  <a:srgbClr val="94A3B8"/>
                </a:solidFill>
                <a:latin typeface="Plus Jakarta Sans"/>
              </a:rPr>
              <a:t>Introduction to Python Data Science Stack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62737" y="4254579"/>
            <a:ext cx="85725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75" b="0" i="0" u="none">
                <a:solidFill>
                  <a:srgbClr val="94A3B8"/>
                </a:solidFill>
                <a:latin typeface="Plus Jakarta Sans"/>
              </a:rPr>
              <a:t>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48462" y="4252912"/>
            <a:ext cx="4567237" cy="250924"/>
          </a:xfrm>
          <a:prstGeom prst="rect">
            <a:avLst/>
          </a:prstGeom>
          <a:noFill/>
        </p:spPr>
        <p:txBody>
          <a:bodyPr wrap="square" lIns="85725" tIns="0" rIns="0" bIns="0" anchor="t">
            <a:spAutoFit/>
          </a:bodyPr>
          <a:lstStyle/>
          <a:p>
            <a:pPr algn="l">
              <a:lnSpc>
                <a:spcPts val="1976"/>
              </a:lnSpc>
            </a:pPr>
            <a:r>
              <a:rPr sz="1275" b="0" i="0" u="none">
                <a:solidFill>
                  <a:srgbClr val="94A3B8"/>
                </a:solidFill>
                <a:latin typeface="Plus Jakarta Sans"/>
              </a:rPr>
              <a:t>Real-World AI/DS Industry Case Studies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62737" y="4600753"/>
            <a:ext cx="85725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75" b="0" i="0" u="none">
                <a:solidFill>
                  <a:srgbClr val="94A3B8"/>
                </a:solidFill>
                <a:latin typeface="Plus Jakarta Sans"/>
              </a:rPr>
              <a:t>•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48462" y="4599086"/>
            <a:ext cx="4567237" cy="250924"/>
          </a:xfrm>
          <a:prstGeom prst="rect">
            <a:avLst/>
          </a:prstGeom>
          <a:noFill/>
        </p:spPr>
        <p:txBody>
          <a:bodyPr wrap="square" lIns="85725" tIns="0" rIns="0" bIns="0" anchor="t">
            <a:spAutoFit/>
          </a:bodyPr>
          <a:lstStyle/>
          <a:p>
            <a:pPr algn="l">
              <a:lnSpc>
                <a:spcPts val="1976"/>
              </a:lnSpc>
            </a:pPr>
            <a:r>
              <a:rPr sz="1275" b="0" i="0" u="none">
                <a:solidFill>
                  <a:srgbClr val="94A3B8"/>
                </a:solidFill>
                <a:latin typeface="Plus Jakarta Sans"/>
              </a:rPr>
              <a:t>Group Discussion &amp; Ethical AI Considerations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1025" y="485775"/>
            <a:ext cx="11581447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50" b="1" i="0" u="none">
                <a:solidFill>
                  <a:srgbClr val="38BDF8"/>
                </a:solidFill>
                <a:latin typeface="Space Grotesk"/>
              </a:rPr>
              <a:t>Daily Session Structure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81025" y="990600"/>
            <a:ext cx="11029950" cy="19050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9EB1F2DE-3A92-734E-3EC8-C1BB7D189D8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855035" y="150753"/>
            <a:ext cx="1169816" cy="123614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75697" y="3280916"/>
            <a:ext cx="4840605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3750" b="1" i="0" u="none">
                <a:solidFill>
                  <a:srgbClr val="F8FAFC"/>
                </a:solidFill>
                <a:latin typeface="Space Grotesk"/>
              </a:rPr>
              <a:t>Daily Theory (1 Hour)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86150" y="4033391"/>
            <a:ext cx="5219700" cy="32474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557"/>
              </a:lnSpc>
            </a:pPr>
            <a:r>
              <a:rPr sz="1650" b="0" i="0" u="none">
                <a:solidFill>
                  <a:srgbClr val="38BDF8"/>
                </a:solidFill>
                <a:latin typeface="Plus Jakarta Sans"/>
              </a:rPr>
              <a:t>Foundations, Scope, Lifecycle &amp; Paradigm Hierarchy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8D67569-11B1-D57F-B110-D02B08ABD9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45292" y="219579"/>
            <a:ext cx="1132076" cy="119626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2365027"/>
            <a:ext cx="5348287" cy="2937569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2687" y="2365027"/>
            <a:ext cx="5348287" cy="293756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76300" y="2660302"/>
            <a:ext cx="4995624" cy="2539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 dirty="0">
                <a:solidFill>
                  <a:srgbClr val="38BDF8"/>
                </a:solidFill>
                <a:latin typeface="Space Grotesk"/>
              </a:rPr>
              <a:t>Core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6300" y="3022252"/>
            <a:ext cx="4757737" cy="1609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33000"/>
              </a:lnSpc>
            </a:pPr>
            <a:r>
              <a:rPr lang="en-IN" sz="1600" dirty="0">
                <a:solidFill>
                  <a:schemeClr val="bg1"/>
                </a:solidFill>
                <a:latin typeface="Plus Jakarta Sans"/>
              </a:rPr>
              <a:t>Data science is the study of data used to extract meaningful insights for business decisions. The key process involves collecting, cleaning, analysing, and interpreting data to solve real-world problems and support better decision-making.</a:t>
            </a:r>
            <a:endParaRPr lang="en-US" sz="1600" dirty="0">
              <a:solidFill>
                <a:schemeClr val="bg1"/>
              </a:solidFill>
              <a:latin typeface="Plus Jakarta San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557962" y="2660302"/>
            <a:ext cx="4995624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38BDF8"/>
                </a:solidFill>
                <a:latin typeface="Space Grotesk"/>
              </a:rPr>
              <a:t>The 3 Key Pillars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57962" y="3022252"/>
            <a:ext cx="4757737" cy="5018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76"/>
              </a:lnSpc>
            </a:pPr>
            <a:r>
              <a:rPr sz="1275" b="1" i="0" u="none" dirty="0">
                <a:solidFill>
                  <a:schemeClr val="bg1"/>
                </a:solidFill>
                <a:latin typeface="Plus Jakarta Sans"/>
              </a:rPr>
              <a:t>1. Mathematics &amp; Statistics:</a:t>
            </a:r>
            <a:r>
              <a:rPr sz="1275" b="0" i="0" u="none" dirty="0">
                <a:solidFill>
                  <a:schemeClr val="bg1"/>
                </a:solidFill>
                <a:latin typeface="Plus Jakarta Sans"/>
              </a:rPr>
              <a:t> Hypothesis testing, probability, probability distributions, linear algebra.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57962" y="3638401"/>
            <a:ext cx="4757737" cy="5018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76"/>
              </a:lnSpc>
            </a:pPr>
            <a:r>
              <a:rPr sz="1275" b="1" i="0" u="none" dirty="0">
                <a:solidFill>
                  <a:schemeClr val="bg1"/>
                </a:solidFill>
                <a:latin typeface="Plus Jakarta Sans"/>
              </a:rPr>
              <a:t>2. Computer Science &amp; Software:</a:t>
            </a:r>
            <a:r>
              <a:rPr sz="1275" b="0" i="0" u="none" dirty="0">
                <a:solidFill>
                  <a:schemeClr val="bg1"/>
                </a:solidFill>
                <a:latin typeface="Plus Jakarta Sans"/>
              </a:rPr>
              <a:t> Python, R, SQL, algorithmic complexity, data structures.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57962" y="4254549"/>
            <a:ext cx="4757737" cy="5018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76"/>
              </a:lnSpc>
            </a:pPr>
            <a:r>
              <a:rPr sz="1275" b="1" i="0" u="none" dirty="0">
                <a:solidFill>
                  <a:schemeClr val="bg1"/>
                </a:solidFill>
                <a:latin typeface="Plus Jakarta Sans"/>
              </a:rPr>
              <a:t>3. Business &amp; Domain Expertise:</a:t>
            </a:r>
            <a:r>
              <a:rPr sz="1275" b="0" i="0" u="none" dirty="0">
                <a:solidFill>
                  <a:schemeClr val="bg1"/>
                </a:solidFill>
                <a:latin typeface="Plus Jakarta Sans"/>
              </a:rPr>
              <a:t> Asking the right business questions and interpreting analytical outputs.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1025" y="485775"/>
            <a:ext cx="11581447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50" b="1" i="0" u="none">
                <a:solidFill>
                  <a:srgbClr val="38BDF8"/>
                </a:solidFill>
                <a:latin typeface="Space Grotesk"/>
              </a:rPr>
              <a:t>What is Data Science?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81025" y="990600"/>
            <a:ext cx="11029950" cy="19050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942BB9A8-8195-9B49-5CB4-09287249750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23170" y="139498"/>
            <a:ext cx="1185057" cy="125225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94F014-5EC6-6F9A-DDCA-28A26F06E8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>
            <a:extLst>
              <a:ext uri="{FF2B5EF4-FFF2-40B4-BE49-F238E27FC236}">
                <a16:creationId xmlns:a16="http://schemas.microsoft.com/office/drawing/2014/main" id="{DCE1F36D-35C9-ECB4-3BEF-F6B416176C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6" name="Picture 5" descr="image.png">
            <a:extLst>
              <a:ext uri="{FF2B5EF4-FFF2-40B4-BE49-F238E27FC236}">
                <a16:creationId xmlns:a16="http://schemas.microsoft.com/office/drawing/2014/main" id="{EAC4E6A3-4B45-4053-0DC1-E41A2F3437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7571" y="1243666"/>
            <a:ext cx="9331939" cy="4042487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141E3611-C116-ED4A-FD92-390BF640E619}"/>
              </a:ext>
            </a:extLst>
          </p:cNvPr>
          <p:cNvSpPr txBox="1"/>
          <p:nvPr/>
        </p:nvSpPr>
        <p:spPr>
          <a:xfrm>
            <a:off x="581025" y="485775"/>
            <a:ext cx="11581447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50" b="1" i="0" u="none">
                <a:solidFill>
                  <a:srgbClr val="38BDF8"/>
                </a:solidFill>
                <a:latin typeface="Space Grotesk"/>
              </a:rPr>
              <a:t>The Data Science Lifecycle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51442E2-B76F-AA4C-14F2-61D492B6EED5}"/>
              </a:ext>
            </a:extLst>
          </p:cNvPr>
          <p:cNvSpPr/>
          <p:nvPr/>
        </p:nvSpPr>
        <p:spPr>
          <a:xfrm>
            <a:off x="581025" y="990600"/>
            <a:ext cx="11029950" cy="19050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5" name="Image 0" descr="preencoded.png">
            <a:extLst>
              <a:ext uri="{FF2B5EF4-FFF2-40B4-BE49-F238E27FC236}">
                <a16:creationId xmlns:a16="http://schemas.microsoft.com/office/drawing/2014/main" id="{F32EE111-1E9E-4D4F-71B4-B3668881825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247571" y="1928020"/>
            <a:ext cx="9102152" cy="3415550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89811385-EC08-4D22-F0D3-AA2B7CD073D0}"/>
              </a:ext>
            </a:extLst>
          </p:cNvPr>
          <p:cNvSpPr txBox="1"/>
          <p:nvPr/>
        </p:nvSpPr>
        <p:spPr>
          <a:xfrm>
            <a:off x="1471523" y="4268203"/>
            <a:ext cx="183575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E5DCE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Business Problem</a:t>
            </a:r>
            <a:endParaRPr lang="en-US" sz="1600" dirty="0"/>
          </a:p>
          <a:p>
            <a:endParaRPr lang="en-IN" sz="1600" dirty="0"/>
          </a:p>
        </p:txBody>
      </p:sp>
      <p:sp>
        <p:nvSpPr>
          <p:cNvPr id="28" name="Text 4">
            <a:extLst>
              <a:ext uri="{FF2B5EF4-FFF2-40B4-BE49-F238E27FC236}">
                <a16:creationId xmlns:a16="http://schemas.microsoft.com/office/drawing/2014/main" id="{70B018E5-3028-1D0C-2C30-B9A83AADAFC2}"/>
              </a:ext>
            </a:extLst>
          </p:cNvPr>
          <p:cNvSpPr/>
          <p:nvPr/>
        </p:nvSpPr>
        <p:spPr>
          <a:xfrm>
            <a:off x="3531234" y="4288467"/>
            <a:ext cx="1190146" cy="4585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dirty="0">
                <a:solidFill>
                  <a:srgbClr val="E5DCE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Data Collection</a:t>
            </a:r>
            <a:endParaRPr lang="en-US" sz="1400" dirty="0"/>
          </a:p>
        </p:txBody>
      </p:sp>
      <p:sp>
        <p:nvSpPr>
          <p:cNvPr id="30" name="Text 3">
            <a:extLst>
              <a:ext uri="{FF2B5EF4-FFF2-40B4-BE49-F238E27FC236}">
                <a16:creationId xmlns:a16="http://schemas.microsoft.com/office/drawing/2014/main" id="{8F8B9736-AA12-2041-FE35-554C6FDB4D68}"/>
              </a:ext>
            </a:extLst>
          </p:cNvPr>
          <p:cNvSpPr/>
          <p:nvPr/>
        </p:nvSpPr>
        <p:spPr>
          <a:xfrm>
            <a:off x="5318467" y="4286290"/>
            <a:ext cx="1190146" cy="4585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dirty="0">
                <a:solidFill>
                  <a:srgbClr val="E5DCE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Data Cleaning</a:t>
            </a:r>
            <a:endParaRPr lang="en-US" sz="1400" dirty="0"/>
          </a:p>
        </p:txBody>
      </p:sp>
      <p:sp>
        <p:nvSpPr>
          <p:cNvPr id="32" name="Text 2">
            <a:extLst>
              <a:ext uri="{FF2B5EF4-FFF2-40B4-BE49-F238E27FC236}">
                <a16:creationId xmlns:a16="http://schemas.microsoft.com/office/drawing/2014/main" id="{E778A40D-A868-7F0C-249C-5684C0F02D07}"/>
              </a:ext>
            </a:extLst>
          </p:cNvPr>
          <p:cNvSpPr/>
          <p:nvPr/>
        </p:nvSpPr>
        <p:spPr>
          <a:xfrm>
            <a:off x="6875549" y="4286290"/>
            <a:ext cx="1190146" cy="4585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dirty="0">
                <a:solidFill>
                  <a:srgbClr val="E5DCE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Data Analysis</a:t>
            </a:r>
            <a:endParaRPr lang="en-US" sz="1400" dirty="0"/>
          </a:p>
        </p:txBody>
      </p:sp>
      <p:sp>
        <p:nvSpPr>
          <p:cNvPr id="34" name="Text 1">
            <a:extLst>
              <a:ext uri="{FF2B5EF4-FFF2-40B4-BE49-F238E27FC236}">
                <a16:creationId xmlns:a16="http://schemas.microsoft.com/office/drawing/2014/main" id="{A1558EAF-B303-3E9E-6BB5-BEE3CFDCDDC1}"/>
              </a:ext>
            </a:extLst>
          </p:cNvPr>
          <p:cNvSpPr/>
          <p:nvPr/>
        </p:nvSpPr>
        <p:spPr>
          <a:xfrm>
            <a:off x="8676479" y="4268203"/>
            <a:ext cx="1190147" cy="4585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dirty="0">
                <a:solidFill>
                  <a:srgbClr val="E5DCE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Model Building</a:t>
            </a:r>
            <a:endParaRPr lang="en-US" sz="1400" dirty="0"/>
          </a:p>
        </p:txBody>
      </p:sp>
      <p:sp>
        <p:nvSpPr>
          <p:cNvPr id="36" name="Text 6">
            <a:extLst>
              <a:ext uri="{FF2B5EF4-FFF2-40B4-BE49-F238E27FC236}">
                <a16:creationId xmlns:a16="http://schemas.microsoft.com/office/drawing/2014/main" id="{977F84E0-7C0E-C5AA-6D58-8E48BAD0873F}"/>
              </a:ext>
            </a:extLst>
          </p:cNvPr>
          <p:cNvSpPr/>
          <p:nvPr/>
        </p:nvSpPr>
        <p:spPr>
          <a:xfrm>
            <a:off x="581024" y="5743693"/>
            <a:ext cx="11365169" cy="7271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Every successful Data Science project follows this structured lifecycle — from understanding the business problem all the way through to continuous monitoring and improvement of the deployed solution.</a:t>
            </a:r>
            <a:endParaRPr lang="en-US" sz="16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47AEB71-1B4E-85DF-7562-FB6D196727F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4871" y="150753"/>
            <a:ext cx="1132076" cy="1196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78967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4C1C11-54DE-EC7D-0F1D-1935BCF01E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>
            <a:extLst>
              <a:ext uri="{FF2B5EF4-FFF2-40B4-BE49-F238E27FC236}">
                <a16:creationId xmlns:a16="http://schemas.microsoft.com/office/drawing/2014/main" id="{D1EF460F-9FDF-7EDA-E085-A093CF5985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3" name="Text 0">
            <a:extLst>
              <a:ext uri="{FF2B5EF4-FFF2-40B4-BE49-F238E27FC236}">
                <a16:creationId xmlns:a16="http://schemas.microsoft.com/office/drawing/2014/main" id="{3225547F-6C44-9211-F8FD-5F71053B6F51}"/>
              </a:ext>
            </a:extLst>
          </p:cNvPr>
          <p:cNvSpPr/>
          <p:nvPr/>
        </p:nvSpPr>
        <p:spPr>
          <a:xfrm>
            <a:off x="820583" y="844185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50" b="1" dirty="0">
                <a:solidFill>
                  <a:srgbClr val="0070C0"/>
                </a:solidFill>
                <a:latin typeface="Space Grotesk"/>
                <a:ea typeface="Bricolage Grotesque ExtraBold" pitchFamily="34" charset="-122"/>
                <a:cs typeface="Bricolage Grotesque ExtraBold" pitchFamily="34" charset="-120"/>
              </a:rPr>
              <a:t>Data Collection, Processing &amp; Visualization</a:t>
            </a:r>
            <a:endParaRPr lang="en-US" sz="2550" b="1" dirty="0">
              <a:solidFill>
                <a:srgbClr val="0070C0"/>
              </a:solidFill>
              <a:latin typeface="Space Grotesk"/>
            </a:endParaRPr>
          </a:p>
        </p:txBody>
      </p:sp>
      <p:sp>
        <p:nvSpPr>
          <p:cNvPr id="65" name="Text 1">
            <a:extLst>
              <a:ext uri="{FF2B5EF4-FFF2-40B4-BE49-F238E27FC236}">
                <a16:creationId xmlns:a16="http://schemas.microsoft.com/office/drawing/2014/main" id="{7A18F7CB-0A58-EC7D-84D3-FE6394C6D110}"/>
              </a:ext>
            </a:extLst>
          </p:cNvPr>
          <p:cNvSpPr/>
          <p:nvPr/>
        </p:nvSpPr>
        <p:spPr>
          <a:xfrm>
            <a:off x="899241" y="1806555"/>
            <a:ext cx="390294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chemeClr val="bg1">
                    <a:lumMod val="95000"/>
                  </a:schemeClr>
                </a:solidFill>
                <a:latin typeface="Montserrat" panose="00000500000000000000" pitchFamily="2" charset="0"/>
                <a:ea typeface="Bricolage Grotesque ExtraBold" pitchFamily="34" charset="-122"/>
                <a:cs typeface="Bricolage Grotesque ExtraBold" pitchFamily="34" charset="-120"/>
              </a:rPr>
              <a:t>Data Collection Sources</a:t>
            </a:r>
            <a:endParaRPr lang="en-US" sz="1600" dirty="0">
              <a:solidFill>
                <a:schemeClr val="bg1">
                  <a:lumMod val="95000"/>
                </a:schemeClr>
              </a:solidFill>
              <a:latin typeface="Montserrat" panose="00000500000000000000" pitchFamily="2" charset="0"/>
            </a:endParaRPr>
          </a:p>
        </p:txBody>
      </p:sp>
      <p:sp>
        <p:nvSpPr>
          <p:cNvPr id="67" name="Text 2">
            <a:extLst>
              <a:ext uri="{FF2B5EF4-FFF2-40B4-BE49-F238E27FC236}">
                <a16:creationId xmlns:a16="http://schemas.microsoft.com/office/drawing/2014/main" id="{3F10C847-AF9C-08C8-F5FA-404C43575D14}"/>
              </a:ext>
            </a:extLst>
          </p:cNvPr>
          <p:cNvSpPr/>
          <p:nvPr/>
        </p:nvSpPr>
        <p:spPr>
          <a:xfrm>
            <a:off x="899241" y="2272652"/>
            <a:ext cx="3902943" cy="7795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600" dirty="0">
                <a:solidFill>
                  <a:schemeClr val="bg1">
                    <a:lumMod val="95000"/>
                  </a:schemeClr>
                </a:solidFill>
                <a:latin typeface="Montserrat" panose="00000500000000000000" pitchFamily="2" charset="0"/>
                <a:ea typeface="Montserrat" pitchFamily="34" charset="-122"/>
                <a:cs typeface="Montserrat" pitchFamily="34" charset="-120"/>
              </a:rPr>
              <a:t>Databases, Websites &amp; APIs</a:t>
            </a:r>
            <a:endParaRPr lang="en-US" sz="1600" dirty="0">
              <a:solidFill>
                <a:schemeClr val="bg1">
                  <a:lumMod val="95000"/>
                </a:schemeClr>
              </a:solidFill>
              <a:latin typeface="Montserrat" panose="00000500000000000000" pitchFamily="2" charset="0"/>
            </a:endParaRPr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600" dirty="0">
                <a:solidFill>
                  <a:schemeClr val="bg1">
                    <a:lumMod val="95000"/>
                  </a:schemeClr>
                </a:solidFill>
                <a:latin typeface="Montserrat" panose="00000500000000000000" pitchFamily="2" charset="0"/>
                <a:ea typeface="Montserrat" pitchFamily="34" charset="-122"/>
                <a:cs typeface="Montserrat" pitchFamily="34" charset="-120"/>
              </a:rPr>
              <a:t>Excel files &amp; IoT Sensors</a:t>
            </a:r>
            <a:endParaRPr lang="en-US" sz="1600" dirty="0">
              <a:solidFill>
                <a:schemeClr val="bg1">
                  <a:lumMod val="95000"/>
                </a:schemeClr>
              </a:solidFill>
              <a:latin typeface="Montserrat" panose="00000500000000000000" pitchFamily="2" charset="0"/>
            </a:endParaRPr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600" dirty="0">
                <a:solidFill>
                  <a:schemeClr val="bg1">
                    <a:lumMod val="95000"/>
                  </a:schemeClr>
                </a:solidFill>
                <a:latin typeface="Montserrat" panose="00000500000000000000" pitchFamily="2" charset="0"/>
                <a:ea typeface="Montserrat" pitchFamily="34" charset="-122"/>
                <a:cs typeface="Montserrat" pitchFamily="34" charset="-120"/>
              </a:rPr>
              <a:t>Social Media platforms</a:t>
            </a:r>
            <a:endParaRPr lang="en-US" sz="1600" dirty="0">
              <a:solidFill>
                <a:schemeClr val="bg1">
                  <a:lumMod val="95000"/>
                </a:schemeClr>
              </a:solidFill>
              <a:latin typeface="Montserrat" panose="00000500000000000000" pitchFamily="2" charset="0"/>
            </a:endParaRPr>
          </a:p>
        </p:txBody>
      </p:sp>
      <p:sp>
        <p:nvSpPr>
          <p:cNvPr id="69" name="Text 3">
            <a:extLst>
              <a:ext uri="{FF2B5EF4-FFF2-40B4-BE49-F238E27FC236}">
                <a16:creationId xmlns:a16="http://schemas.microsoft.com/office/drawing/2014/main" id="{585051B7-03A8-A06A-7D21-92749BADDD4D}"/>
              </a:ext>
            </a:extLst>
          </p:cNvPr>
          <p:cNvSpPr/>
          <p:nvPr/>
        </p:nvSpPr>
        <p:spPr>
          <a:xfrm>
            <a:off x="899241" y="3539131"/>
            <a:ext cx="390294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chemeClr val="bg1">
                    <a:lumMod val="95000"/>
                  </a:schemeClr>
                </a:solidFill>
                <a:latin typeface="Montserrat" panose="00000500000000000000" pitchFamily="2" charset="0"/>
                <a:ea typeface="Bricolage Grotesque ExtraBold" pitchFamily="34" charset="-122"/>
                <a:cs typeface="Bricolage Grotesque ExtraBold" pitchFamily="34" charset="-120"/>
              </a:rPr>
              <a:t>Data Processing</a:t>
            </a:r>
            <a:endParaRPr lang="en-US" sz="1600" dirty="0">
              <a:solidFill>
                <a:schemeClr val="bg1">
                  <a:lumMod val="95000"/>
                </a:schemeClr>
              </a:solidFill>
              <a:latin typeface="Montserrat" panose="00000500000000000000" pitchFamily="2" charset="0"/>
            </a:endParaRPr>
          </a:p>
        </p:txBody>
      </p:sp>
      <p:sp>
        <p:nvSpPr>
          <p:cNvPr id="71" name="Text 4">
            <a:extLst>
              <a:ext uri="{FF2B5EF4-FFF2-40B4-BE49-F238E27FC236}">
                <a16:creationId xmlns:a16="http://schemas.microsoft.com/office/drawing/2014/main" id="{6905B8D3-83E2-E7D3-F8A3-CB7FD7D9091B}"/>
              </a:ext>
            </a:extLst>
          </p:cNvPr>
          <p:cNvSpPr/>
          <p:nvPr/>
        </p:nvSpPr>
        <p:spPr>
          <a:xfrm>
            <a:off x="899240" y="3866176"/>
            <a:ext cx="4272528" cy="7795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600" dirty="0">
                <a:solidFill>
                  <a:schemeClr val="bg1">
                    <a:lumMod val="95000"/>
                  </a:schemeClr>
                </a:solidFill>
                <a:latin typeface="Montserrat" panose="00000500000000000000" pitchFamily="2" charset="0"/>
                <a:ea typeface="Montserrat" pitchFamily="34" charset="-122"/>
                <a:cs typeface="Montserrat" pitchFamily="34" charset="-120"/>
              </a:rPr>
              <a:t>Remove duplicates</a:t>
            </a:r>
            <a:endParaRPr lang="en-US" sz="1600" dirty="0">
              <a:solidFill>
                <a:schemeClr val="bg1">
                  <a:lumMod val="95000"/>
                </a:schemeClr>
              </a:solidFill>
              <a:latin typeface="Montserrat" panose="00000500000000000000" pitchFamily="2" charset="0"/>
            </a:endParaRPr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600" dirty="0">
                <a:solidFill>
                  <a:schemeClr val="bg1">
                    <a:lumMod val="95000"/>
                  </a:schemeClr>
                </a:solidFill>
                <a:latin typeface="Montserrat" panose="00000500000000000000" pitchFamily="2" charset="0"/>
                <a:ea typeface="Montserrat" pitchFamily="34" charset="-122"/>
                <a:cs typeface="Montserrat" pitchFamily="34" charset="-120"/>
              </a:rPr>
              <a:t>Handle missing values</a:t>
            </a:r>
            <a:endParaRPr lang="en-US" sz="1600" dirty="0">
              <a:solidFill>
                <a:schemeClr val="bg1">
                  <a:lumMod val="95000"/>
                </a:schemeClr>
              </a:solidFill>
              <a:latin typeface="Montserrat" panose="00000500000000000000" pitchFamily="2" charset="0"/>
            </a:endParaRPr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600" dirty="0">
                <a:solidFill>
                  <a:schemeClr val="bg1">
                    <a:lumMod val="95000"/>
                  </a:schemeClr>
                </a:solidFill>
                <a:latin typeface="Montserrat" panose="00000500000000000000" pitchFamily="2" charset="0"/>
                <a:ea typeface="Montserrat" pitchFamily="34" charset="-122"/>
                <a:cs typeface="Montserrat" pitchFamily="34" charset="-120"/>
              </a:rPr>
              <a:t>Correct errors &amp; standardize formats</a:t>
            </a:r>
            <a:endParaRPr lang="en-US" sz="1600" dirty="0">
              <a:solidFill>
                <a:schemeClr val="bg1">
                  <a:lumMod val="95000"/>
                </a:schemeClr>
              </a:solidFill>
              <a:latin typeface="Montserrat" panose="00000500000000000000" pitchFamily="2" charset="0"/>
            </a:endParaRPr>
          </a:p>
        </p:txBody>
      </p:sp>
      <p:sp>
        <p:nvSpPr>
          <p:cNvPr id="73" name="Shape 5">
            <a:extLst>
              <a:ext uri="{FF2B5EF4-FFF2-40B4-BE49-F238E27FC236}">
                <a16:creationId xmlns:a16="http://schemas.microsoft.com/office/drawing/2014/main" id="{8F3E4285-0D86-2AF1-CF1A-42CB26EFA92D}"/>
              </a:ext>
            </a:extLst>
          </p:cNvPr>
          <p:cNvSpPr/>
          <p:nvPr/>
        </p:nvSpPr>
        <p:spPr>
          <a:xfrm>
            <a:off x="993521" y="5360333"/>
            <a:ext cx="3902943" cy="1036555"/>
          </a:xfrm>
          <a:prstGeom prst="roundRect">
            <a:avLst>
              <a:gd name="adj" fmla="val 7638"/>
            </a:avLst>
          </a:prstGeom>
          <a:solidFill>
            <a:srgbClr val="4B3F02"/>
          </a:solidFill>
          <a:ln/>
        </p:spPr>
      </p:sp>
      <p:sp>
        <p:nvSpPr>
          <p:cNvPr id="77" name="Text 6">
            <a:extLst>
              <a:ext uri="{FF2B5EF4-FFF2-40B4-BE49-F238E27FC236}">
                <a16:creationId xmlns:a16="http://schemas.microsoft.com/office/drawing/2014/main" id="{0B8F05C9-F454-4B5C-C890-03394A16C619}"/>
              </a:ext>
            </a:extLst>
          </p:cNvPr>
          <p:cNvSpPr/>
          <p:nvPr/>
        </p:nvSpPr>
        <p:spPr>
          <a:xfrm>
            <a:off x="1294748" y="5316020"/>
            <a:ext cx="330048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b="1" dirty="0">
                <a:solidFill>
                  <a:schemeClr val="bg1">
                    <a:lumMod val="95000"/>
                  </a:schemeClr>
                </a:solidFill>
                <a:latin typeface="Montserrat" panose="00000500000000000000" pitchFamily="2" charset="0"/>
                <a:ea typeface="Montserrat Bold" pitchFamily="34" charset="-122"/>
                <a:cs typeface="Montserrat Bold" pitchFamily="34" charset="-120"/>
              </a:rPr>
              <a:t>Garbage In = Garbage Out.</a:t>
            </a:r>
            <a:r>
              <a:rPr lang="en-US" sz="1600" dirty="0">
                <a:solidFill>
                  <a:schemeClr val="bg1">
                    <a:lumMod val="95000"/>
                  </a:schemeClr>
                </a:solidFill>
                <a:latin typeface="Montserrat" panose="00000500000000000000" pitchFamily="2" charset="0"/>
                <a:ea typeface="Montserrat" pitchFamily="34" charset="-122"/>
                <a:cs typeface="Montserrat" pitchFamily="34" charset="-120"/>
              </a:rPr>
              <a:t> Clean data leads to better results.</a:t>
            </a:r>
            <a:endParaRPr lang="en-US" sz="1600" dirty="0">
              <a:solidFill>
                <a:schemeClr val="bg1">
                  <a:lumMod val="95000"/>
                </a:schemeClr>
              </a:solidFill>
              <a:latin typeface="Montserrat" panose="00000500000000000000" pitchFamily="2" charset="0"/>
            </a:endParaRPr>
          </a:p>
        </p:txBody>
      </p:sp>
      <p:sp>
        <p:nvSpPr>
          <p:cNvPr id="79" name="Text 7">
            <a:extLst>
              <a:ext uri="{FF2B5EF4-FFF2-40B4-BE49-F238E27FC236}">
                <a16:creationId xmlns:a16="http://schemas.microsoft.com/office/drawing/2014/main" id="{95CB3D7C-1A1D-3F04-3A4F-26F2C7E2A463}"/>
              </a:ext>
            </a:extLst>
          </p:cNvPr>
          <p:cNvSpPr/>
          <p:nvPr/>
        </p:nvSpPr>
        <p:spPr>
          <a:xfrm>
            <a:off x="5701425" y="1787758"/>
            <a:ext cx="390294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chemeClr val="bg1">
                    <a:lumMod val="95000"/>
                  </a:schemeClr>
                </a:solidFill>
                <a:latin typeface="Montserrat" panose="00000500000000000000" pitchFamily="2" charset="0"/>
                <a:ea typeface="Bricolage Grotesque ExtraBold" pitchFamily="34" charset="-122"/>
                <a:cs typeface="Bricolage Grotesque ExtraBold" pitchFamily="34" charset="-120"/>
              </a:rPr>
              <a:t>Data Analysis Purpose</a:t>
            </a:r>
            <a:endParaRPr lang="en-US" sz="1600" dirty="0">
              <a:solidFill>
                <a:schemeClr val="bg1">
                  <a:lumMod val="95000"/>
                </a:schemeClr>
              </a:solidFill>
              <a:latin typeface="Montserrat" panose="00000500000000000000" pitchFamily="2" charset="0"/>
            </a:endParaRPr>
          </a:p>
        </p:txBody>
      </p:sp>
      <p:sp>
        <p:nvSpPr>
          <p:cNvPr id="81" name="Text 8">
            <a:extLst>
              <a:ext uri="{FF2B5EF4-FFF2-40B4-BE49-F238E27FC236}">
                <a16:creationId xmlns:a16="http://schemas.microsoft.com/office/drawing/2014/main" id="{149A889C-EF95-3181-7E34-2B13A0D8497B}"/>
              </a:ext>
            </a:extLst>
          </p:cNvPr>
          <p:cNvSpPr/>
          <p:nvPr/>
        </p:nvSpPr>
        <p:spPr>
          <a:xfrm>
            <a:off x="5701425" y="2180625"/>
            <a:ext cx="3902943" cy="5031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600" dirty="0">
                <a:solidFill>
                  <a:schemeClr val="bg1">
                    <a:lumMod val="95000"/>
                  </a:schemeClr>
                </a:solidFill>
                <a:latin typeface="Montserrat" panose="00000500000000000000" pitchFamily="2" charset="0"/>
                <a:ea typeface="Montserrat" pitchFamily="34" charset="-122"/>
                <a:cs typeface="Montserrat" pitchFamily="34" charset="-120"/>
              </a:rPr>
              <a:t>Find patterns &amp; discover trends</a:t>
            </a:r>
            <a:endParaRPr lang="en-US" sz="1600" dirty="0">
              <a:solidFill>
                <a:schemeClr val="bg1">
                  <a:lumMod val="95000"/>
                </a:schemeClr>
              </a:solidFill>
              <a:latin typeface="Montserrat" panose="00000500000000000000" pitchFamily="2" charset="0"/>
            </a:endParaRPr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600" dirty="0">
                <a:solidFill>
                  <a:schemeClr val="bg1">
                    <a:lumMod val="95000"/>
                  </a:schemeClr>
                </a:solidFill>
                <a:latin typeface="Montserrat" panose="00000500000000000000" pitchFamily="2" charset="0"/>
                <a:ea typeface="Montserrat" pitchFamily="34" charset="-122"/>
                <a:cs typeface="Montserrat" pitchFamily="34" charset="-120"/>
              </a:rPr>
              <a:t>Answer business questions</a:t>
            </a:r>
            <a:endParaRPr lang="en-US" sz="1600" dirty="0">
              <a:solidFill>
                <a:schemeClr val="bg1">
                  <a:lumMod val="95000"/>
                </a:schemeClr>
              </a:solidFill>
              <a:latin typeface="Montserrat" panose="00000500000000000000" pitchFamily="2" charset="0"/>
            </a:endParaRPr>
          </a:p>
        </p:txBody>
      </p:sp>
      <p:sp>
        <p:nvSpPr>
          <p:cNvPr id="83" name="Text 9">
            <a:extLst>
              <a:ext uri="{FF2B5EF4-FFF2-40B4-BE49-F238E27FC236}">
                <a16:creationId xmlns:a16="http://schemas.microsoft.com/office/drawing/2014/main" id="{4B7833C4-4CE6-E4BE-CFC8-B1765BDB780B}"/>
              </a:ext>
            </a:extLst>
          </p:cNvPr>
          <p:cNvSpPr/>
          <p:nvPr/>
        </p:nvSpPr>
        <p:spPr>
          <a:xfrm>
            <a:off x="5701424" y="3429000"/>
            <a:ext cx="390294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chemeClr val="bg1">
                    <a:lumMod val="95000"/>
                  </a:schemeClr>
                </a:solidFill>
                <a:latin typeface="Montserrat" panose="00000500000000000000" pitchFamily="2" charset="0"/>
                <a:ea typeface="Bricolage Grotesque ExtraBold" pitchFamily="34" charset="-122"/>
                <a:cs typeface="Bricolage Grotesque ExtraBold" pitchFamily="34" charset="-120"/>
              </a:rPr>
              <a:t>Common Chart Types</a:t>
            </a:r>
            <a:endParaRPr lang="en-US" sz="1600" dirty="0">
              <a:solidFill>
                <a:schemeClr val="bg1">
                  <a:lumMod val="95000"/>
                </a:schemeClr>
              </a:solidFill>
              <a:latin typeface="Montserrat" panose="00000500000000000000" pitchFamily="2" charset="0"/>
            </a:endParaRPr>
          </a:p>
        </p:txBody>
      </p:sp>
      <p:sp>
        <p:nvSpPr>
          <p:cNvPr id="85" name="Text 10">
            <a:extLst>
              <a:ext uri="{FF2B5EF4-FFF2-40B4-BE49-F238E27FC236}">
                <a16:creationId xmlns:a16="http://schemas.microsoft.com/office/drawing/2014/main" id="{B7E66AD5-E71F-5194-99E8-03DF8E7094AE}"/>
              </a:ext>
            </a:extLst>
          </p:cNvPr>
          <p:cNvSpPr/>
          <p:nvPr/>
        </p:nvSpPr>
        <p:spPr>
          <a:xfrm>
            <a:off x="5701425" y="3807385"/>
            <a:ext cx="3902943" cy="7795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600" dirty="0">
                <a:solidFill>
                  <a:schemeClr val="bg1">
                    <a:lumMod val="95000"/>
                  </a:schemeClr>
                </a:solidFill>
                <a:latin typeface="Montserrat" panose="00000500000000000000" pitchFamily="2" charset="0"/>
                <a:ea typeface="Montserrat" pitchFamily="34" charset="-122"/>
                <a:cs typeface="Montserrat" pitchFamily="34" charset="-120"/>
              </a:rPr>
              <a:t>Bar Chart &amp; Line Chart</a:t>
            </a:r>
            <a:endParaRPr lang="en-US" sz="1600" dirty="0">
              <a:solidFill>
                <a:schemeClr val="bg1">
                  <a:lumMod val="95000"/>
                </a:schemeClr>
              </a:solidFill>
              <a:latin typeface="Montserrat" panose="00000500000000000000" pitchFamily="2" charset="0"/>
            </a:endParaRPr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600" dirty="0">
                <a:solidFill>
                  <a:schemeClr val="bg1">
                    <a:lumMod val="95000"/>
                  </a:schemeClr>
                </a:solidFill>
                <a:latin typeface="Montserrat" panose="00000500000000000000" pitchFamily="2" charset="0"/>
                <a:ea typeface="Montserrat" pitchFamily="34" charset="-122"/>
                <a:cs typeface="Montserrat" pitchFamily="34" charset="-120"/>
              </a:rPr>
              <a:t>Pie Chart &amp; Scatter Plot</a:t>
            </a:r>
            <a:endParaRPr lang="en-US" sz="1600" dirty="0">
              <a:solidFill>
                <a:schemeClr val="bg1">
                  <a:lumMod val="95000"/>
                </a:schemeClr>
              </a:solidFill>
              <a:latin typeface="Montserrat" panose="00000500000000000000" pitchFamily="2" charset="0"/>
            </a:endParaRPr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600" dirty="0">
                <a:solidFill>
                  <a:schemeClr val="bg1">
                    <a:lumMod val="95000"/>
                  </a:schemeClr>
                </a:solidFill>
                <a:latin typeface="Montserrat" panose="00000500000000000000" pitchFamily="2" charset="0"/>
                <a:ea typeface="Montserrat" pitchFamily="34" charset="-122"/>
                <a:cs typeface="Montserrat" pitchFamily="34" charset="-120"/>
              </a:rPr>
              <a:t>Histogram</a:t>
            </a:r>
            <a:endParaRPr lang="en-US" sz="1600" dirty="0">
              <a:solidFill>
                <a:schemeClr val="bg1">
                  <a:lumMod val="95000"/>
                </a:schemeClr>
              </a:solidFill>
              <a:latin typeface="Montserrat" panose="00000500000000000000" pitchFamily="2" charset="0"/>
            </a:endParaRPr>
          </a:p>
        </p:txBody>
      </p:sp>
      <p:sp>
        <p:nvSpPr>
          <p:cNvPr id="87" name="Text 11">
            <a:extLst>
              <a:ext uri="{FF2B5EF4-FFF2-40B4-BE49-F238E27FC236}">
                <a16:creationId xmlns:a16="http://schemas.microsoft.com/office/drawing/2014/main" id="{B491A6CB-E923-D917-176C-F0C86FBF5827}"/>
              </a:ext>
            </a:extLst>
          </p:cNvPr>
          <p:cNvSpPr/>
          <p:nvPr/>
        </p:nvSpPr>
        <p:spPr>
          <a:xfrm>
            <a:off x="5701423" y="5135349"/>
            <a:ext cx="390294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chemeClr val="bg1">
                    <a:lumMod val="95000"/>
                  </a:schemeClr>
                </a:solidFill>
                <a:latin typeface="Montserrat" panose="00000500000000000000" pitchFamily="2" charset="0"/>
                <a:ea typeface="Bricolage Grotesque ExtraBold" pitchFamily="34" charset="-122"/>
                <a:cs typeface="Bricolage Grotesque ExtraBold" pitchFamily="34" charset="-120"/>
              </a:rPr>
              <a:t>Benefits</a:t>
            </a:r>
            <a:endParaRPr lang="en-US" sz="1600" dirty="0">
              <a:solidFill>
                <a:schemeClr val="bg1">
                  <a:lumMod val="95000"/>
                </a:schemeClr>
              </a:solidFill>
              <a:latin typeface="Montserrat" panose="00000500000000000000" pitchFamily="2" charset="0"/>
            </a:endParaRPr>
          </a:p>
        </p:txBody>
      </p:sp>
      <p:sp>
        <p:nvSpPr>
          <p:cNvPr id="89" name="Text 12">
            <a:extLst>
              <a:ext uri="{FF2B5EF4-FFF2-40B4-BE49-F238E27FC236}">
                <a16:creationId xmlns:a16="http://schemas.microsoft.com/office/drawing/2014/main" id="{48348726-C181-D54A-B68D-7A64D3E80D47}"/>
              </a:ext>
            </a:extLst>
          </p:cNvPr>
          <p:cNvSpPr/>
          <p:nvPr/>
        </p:nvSpPr>
        <p:spPr>
          <a:xfrm>
            <a:off x="5701425" y="5483705"/>
            <a:ext cx="390294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chemeClr val="bg1">
                    <a:lumMod val="95000"/>
                  </a:schemeClr>
                </a:solidFill>
                <a:latin typeface="Montserrat" panose="00000500000000000000" pitchFamily="2" charset="0"/>
                <a:ea typeface="Montserrat" pitchFamily="34" charset="-122"/>
                <a:cs typeface="Montserrat" pitchFamily="34" charset="-120"/>
              </a:rPr>
              <a:t>Easy to understand and supports better business decisions.</a:t>
            </a:r>
            <a:endParaRPr lang="en-US" sz="1600" dirty="0">
              <a:solidFill>
                <a:schemeClr val="bg1">
                  <a:lumMod val="95000"/>
                </a:schemeClr>
              </a:solidFill>
              <a:latin typeface="Montserrat" panose="00000500000000000000" pitchFamily="2" charset="0"/>
            </a:endParaRPr>
          </a:p>
        </p:txBody>
      </p:sp>
      <p:pic>
        <p:nvPicPr>
          <p:cNvPr id="91" name="Image 0" descr="preencoded.png">
            <a:extLst>
              <a:ext uri="{FF2B5EF4-FFF2-40B4-BE49-F238E27FC236}">
                <a16:creationId xmlns:a16="http://schemas.microsoft.com/office/drawing/2014/main" id="{3CCBC66C-4C8D-DB59-8BB0-680A488323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5545" y="5414344"/>
            <a:ext cx="177180" cy="14175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A128B83-CF2C-1465-C921-7E516D8018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23170" y="139498"/>
            <a:ext cx="1185057" cy="12522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66205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image.png">
            <a:extLst>
              <a:ext uri="{FF2B5EF4-FFF2-40B4-BE49-F238E27FC236}">
                <a16:creationId xmlns:a16="http://schemas.microsoft.com/office/drawing/2014/main" id="{12900A1D-E802-D730-E2E7-F409C99C9A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Picture 4" descr="image.png">
            <a:extLst>
              <a:ext uri="{FF2B5EF4-FFF2-40B4-BE49-F238E27FC236}">
                <a16:creationId xmlns:a16="http://schemas.microsoft.com/office/drawing/2014/main" id="{05DCDAF4-BAF9-8A73-0023-7284EDFA5E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304" y="3157239"/>
            <a:ext cx="5610738" cy="712124"/>
          </a:xfrm>
          <a:prstGeom prst="rect">
            <a:avLst/>
          </a:prstGeom>
        </p:spPr>
      </p:pic>
      <p:pic>
        <p:nvPicPr>
          <p:cNvPr id="7" name="Picture 6" descr="image.png">
            <a:extLst>
              <a:ext uri="{FF2B5EF4-FFF2-40B4-BE49-F238E27FC236}">
                <a16:creationId xmlns:a16="http://schemas.microsoft.com/office/drawing/2014/main" id="{3AA65E32-4EF7-78D5-8A86-4CA47040DD6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023" y="1964468"/>
            <a:ext cx="5662019" cy="731506"/>
          </a:xfrm>
          <a:prstGeom prst="rect">
            <a:avLst/>
          </a:prstGeom>
        </p:spPr>
      </p:pic>
      <p:pic>
        <p:nvPicPr>
          <p:cNvPr id="9" name="Picture 8" descr="image.png">
            <a:extLst>
              <a:ext uri="{FF2B5EF4-FFF2-40B4-BE49-F238E27FC236}">
                <a16:creationId xmlns:a16="http://schemas.microsoft.com/office/drawing/2014/main" id="{A97A4256-43D6-022B-5DC5-BC0ADCEABFA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2304" y="5597634"/>
            <a:ext cx="5610738" cy="774591"/>
          </a:xfrm>
          <a:prstGeom prst="rect">
            <a:avLst/>
          </a:prstGeom>
        </p:spPr>
      </p:pic>
      <p:pic>
        <p:nvPicPr>
          <p:cNvPr id="11" name="Picture 10" descr="image.png">
            <a:extLst>
              <a:ext uri="{FF2B5EF4-FFF2-40B4-BE49-F238E27FC236}">
                <a16:creationId xmlns:a16="http://schemas.microsoft.com/office/drawing/2014/main" id="{74A1C5F7-FB1B-A1CD-423D-0EAB2AE94B3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2304" y="4296361"/>
            <a:ext cx="5610738" cy="88262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B5E79333-5C52-867D-26D3-EF2B85C8A1FB}"/>
              </a:ext>
            </a:extLst>
          </p:cNvPr>
          <p:cNvSpPr txBox="1"/>
          <p:nvPr/>
        </p:nvSpPr>
        <p:spPr>
          <a:xfrm>
            <a:off x="465535" y="3192825"/>
            <a:ext cx="2323571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US" sz="1600" b="1" i="0" u="none" dirty="0">
                <a:solidFill>
                  <a:srgbClr val="38BDF8"/>
                </a:solidFill>
                <a:latin typeface="Space Grotesk"/>
              </a:rPr>
              <a:t>Visualization</a:t>
            </a:r>
            <a:endParaRPr sz="1600" b="1" i="0" u="none" dirty="0">
              <a:solidFill>
                <a:srgbClr val="38BDF8"/>
              </a:solidFill>
              <a:latin typeface="Space Grotesk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7BFBBA8-EAA8-41F8-8858-73C4ECB148DC}"/>
              </a:ext>
            </a:extLst>
          </p:cNvPr>
          <p:cNvSpPr txBox="1"/>
          <p:nvPr/>
        </p:nvSpPr>
        <p:spPr>
          <a:xfrm>
            <a:off x="1106744" y="3474633"/>
            <a:ext cx="2212925" cy="28334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5000"/>
              </a:lnSpc>
            </a:pPr>
            <a:r>
              <a:rPr lang="en-US" sz="1600" b="1" dirty="0">
                <a:solidFill>
                  <a:srgbClr val="E5DCE6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Tableau</a:t>
            </a:r>
            <a:r>
              <a:rPr lang="en-US" sz="160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· </a:t>
            </a:r>
            <a:r>
              <a:rPr lang="en-US" sz="1600" b="1" dirty="0">
                <a:solidFill>
                  <a:srgbClr val="E5DCE6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Power BI</a:t>
            </a:r>
            <a:endParaRPr lang="en-US" sz="16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EC5E4B0-2893-62FA-70A3-A6C2BD7D4509}"/>
              </a:ext>
            </a:extLst>
          </p:cNvPr>
          <p:cNvSpPr txBox="1"/>
          <p:nvPr/>
        </p:nvSpPr>
        <p:spPr>
          <a:xfrm>
            <a:off x="465535" y="2037679"/>
            <a:ext cx="2323571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US" sz="1600" b="1" dirty="0">
                <a:solidFill>
                  <a:srgbClr val="38BDF8"/>
                </a:solidFill>
                <a:latin typeface="Space Grotesk"/>
              </a:rPr>
              <a:t>Programming</a:t>
            </a:r>
            <a:endParaRPr sz="1600" b="1" i="0" u="none" dirty="0">
              <a:solidFill>
                <a:srgbClr val="38BDF8"/>
              </a:solidFill>
              <a:latin typeface="Space Grotesk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6DA8D6F-BC87-5EF6-6440-7385471B8322}"/>
              </a:ext>
            </a:extLst>
          </p:cNvPr>
          <p:cNvSpPr txBox="1"/>
          <p:nvPr/>
        </p:nvSpPr>
        <p:spPr>
          <a:xfrm>
            <a:off x="1009880" y="2328795"/>
            <a:ext cx="2648140" cy="28334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5000"/>
              </a:lnSpc>
            </a:pPr>
            <a:r>
              <a:rPr lang="en-US" sz="1600" b="1" dirty="0">
                <a:solidFill>
                  <a:srgbClr val="E5DCE6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Python</a:t>
            </a:r>
            <a:r>
              <a:rPr lang="en-US" sz="160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· </a:t>
            </a:r>
            <a:r>
              <a:rPr lang="en-US" sz="1600" b="1" dirty="0">
                <a:solidFill>
                  <a:srgbClr val="E5DCE6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R</a:t>
            </a:r>
            <a:r>
              <a:rPr lang="en-US" sz="160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· </a:t>
            </a:r>
            <a:r>
              <a:rPr lang="en-US" sz="1600" b="1" dirty="0">
                <a:solidFill>
                  <a:srgbClr val="E5DCE6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SQL</a:t>
            </a:r>
            <a:r>
              <a:rPr lang="en-US" sz="160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· </a:t>
            </a:r>
            <a:r>
              <a:rPr lang="en-US" sz="1600" b="1" dirty="0">
                <a:solidFill>
                  <a:srgbClr val="E5DCE6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Excel</a:t>
            </a:r>
            <a:endParaRPr lang="en-US" sz="16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15F4C8D-FF3D-1B6B-918F-E1AE011B8AFD}"/>
              </a:ext>
            </a:extLst>
          </p:cNvPr>
          <p:cNvSpPr txBox="1"/>
          <p:nvPr/>
        </p:nvSpPr>
        <p:spPr>
          <a:xfrm>
            <a:off x="632304" y="5695811"/>
            <a:ext cx="2323571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US" sz="1600" b="1" i="0" u="none" dirty="0">
                <a:solidFill>
                  <a:srgbClr val="38BDF8"/>
                </a:solidFill>
                <a:latin typeface="Space Grotesk"/>
              </a:rPr>
              <a:t>Version Control</a:t>
            </a:r>
            <a:endParaRPr sz="1600" b="1" i="0" u="none" dirty="0">
              <a:solidFill>
                <a:srgbClr val="38BDF8"/>
              </a:solidFill>
              <a:latin typeface="Space Grotesk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AA72934-FCFA-FC44-7B7F-90D98AD54E5D}"/>
              </a:ext>
            </a:extLst>
          </p:cNvPr>
          <p:cNvSpPr txBox="1"/>
          <p:nvPr/>
        </p:nvSpPr>
        <p:spPr>
          <a:xfrm>
            <a:off x="210645" y="6028248"/>
            <a:ext cx="2212925" cy="2072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627"/>
              </a:lnSpc>
            </a:pPr>
            <a:r>
              <a:rPr lang="en-US" sz="1600" b="1" dirty="0">
                <a:solidFill>
                  <a:srgbClr val="E5DCE6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Git</a:t>
            </a:r>
            <a:endParaRPr sz="1600" b="0" i="0" u="none" dirty="0">
              <a:solidFill>
                <a:schemeClr val="bg1"/>
              </a:solidFill>
              <a:latin typeface="Plus Jakarta Sans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74171AC-9511-D440-257E-3F52CE32A2F1}"/>
              </a:ext>
            </a:extLst>
          </p:cNvPr>
          <p:cNvSpPr txBox="1"/>
          <p:nvPr/>
        </p:nvSpPr>
        <p:spPr>
          <a:xfrm>
            <a:off x="560031" y="4491878"/>
            <a:ext cx="2323571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US" sz="1600" b="1" i="0" u="none" dirty="0">
                <a:solidFill>
                  <a:srgbClr val="38BDF8"/>
                </a:solidFill>
                <a:latin typeface="Space Grotesk"/>
              </a:rPr>
              <a:t>Development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5660F31-B722-51E8-3526-468FA3880545}"/>
              </a:ext>
            </a:extLst>
          </p:cNvPr>
          <p:cNvSpPr txBox="1"/>
          <p:nvPr/>
        </p:nvSpPr>
        <p:spPr>
          <a:xfrm>
            <a:off x="581025" y="485775"/>
            <a:ext cx="11581447" cy="3924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IN" sz="2550" b="1" dirty="0">
                <a:solidFill>
                  <a:srgbClr val="38BDF8"/>
                </a:solidFill>
                <a:latin typeface="Space Grotesk"/>
              </a:rPr>
              <a:t>Tools and Technologies</a:t>
            </a:r>
            <a:endParaRPr sz="2550" b="1" i="0" u="none" dirty="0">
              <a:solidFill>
                <a:srgbClr val="38BDF8"/>
              </a:solidFill>
              <a:latin typeface="Space Grotesk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53E70DE1-AD06-B0EC-44D4-97F571DD1516}"/>
              </a:ext>
            </a:extLst>
          </p:cNvPr>
          <p:cNvSpPr/>
          <p:nvPr/>
        </p:nvSpPr>
        <p:spPr>
          <a:xfrm>
            <a:off x="581025" y="990600"/>
            <a:ext cx="11029950" cy="19050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3602130E-F60E-EF1C-3F31-4D19D688E4B8}"/>
              </a:ext>
            </a:extLst>
          </p:cNvPr>
          <p:cNvSpPr txBox="1"/>
          <p:nvPr/>
        </p:nvSpPr>
        <p:spPr>
          <a:xfrm>
            <a:off x="454367" y="1028699"/>
            <a:ext cx="11049855" cy="7583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en-US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Data Scientists use a rich ecosystem of tools — from programming languages to visualization platforms.</a:t>
            </a:r>
            <a:endParaRPr lang="en-US" dirty="0"/>
          </a:p>
        </p:txBody>
      </p:sp>
      <p:pic>
        <p:nvPicPr>
          <p:cNvPr id="90" name="Image 3" descr="preencoded.png">
            <a:extLst>
              <a:ext uri="{FF2B5EF4-FFF2-40B4-BE49-F238E27FC236}">
                <a16:creationId xmlns:a16="http://schemas.microsoft.com/office/drawing/2014/main" id="{05DEC6DE-F4FF-ABEF-508B-BD28907921D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07815" y="2085610"/>
            <a:ext cx="186035" cy="186035"/>
          </a:xfrm>
          <a:prstGeom prst="rect">
            <a:avLst/>
          </a:prstGeom>
        </p:spPr>
      </p:pic>
      <p:pic>
        <p:nvPicPr>
          <p:cNvPr id="92" name="Image 5" descr="preencoded.png">
            <a:extLst>
              <a:ext uri="{FF2B5EF4-FFF2-40B4-BE49-F238E27FC236}">
                <a16:creationId xmlns:a16="http://schemas.microsoft.com/office/drawing/2014/main" id="{74CB1CB0-0442-14CA-191B-BABCFD16355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07814" y="3203682"/>
            <a:ext cx="186035" cy="186035"/>
          </a:xfrm>
          <a:prstGeom prst="rect">
            <a:avLst/>
          </a:prstGeom>
        </p:spPr>
      </p:pic>
      <p:pic>
        <p:nvPicPr>
          <p:cNvPr id="220" name="Image 1" descr="preencoded.png">
            <a:extLst>
              <a:ext uri="{FF2B5EF4-FFF2-40B4-BE49-F238E27FC236}">
                <a16:creationId xmlns:a16="http://schemas.microsoft.com/office/drawing/2014/main" id="{46E4C92E-24B2-B111-8C10-10878BCD5E6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976890" y="1631099"/>
            <a:ext cx="3106638" cy="4142259"/>
          </a:xfrm>
          <a:prstGeom prst="rect">
            <a:avLst/>
          </a:prstGeom>
        </p:spPr>
      </p:pic>
      <p:pic>
        <p:nvPicPr>
          <p:cNvPr id="224" name="Image 7" descr="preencoded.png">
            <a:extLst>
              <a:ext uri="{FF2B5EF4-FFF2-40B4-BE49-F238E27FC236}">
                <a16:creationId xmlns:a16="http://schemas.microsoft.com/office/drawing/2014/main" id="{9E655BEE-E411-1601-9FD5-F7362EBC813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07813" y="4512089"/>
            <a:ext cx="186035" cy="186035"/>
          </a:xfrm>
          <a:prstGeom prst="rect">
            <a:avLst/>
          </a:prstGeom>
        </p:spPr>
      </p:pic>
      <p:sp>
        <p:nvSpPr>
          <p:cNvPr id="225" name="TextBox 224">
            <a:extLst>
              <a:ext uri="{FF2B5EF4-FFF2-40B4-BE49-F238E27FC236}">
                <a16:creationId xmlns:a16="http://schemas.microsoft.com/office/drawing/2014/main" id="{D291E090-57C1-AC71-3E76-BE5BC6E18055}"/>
              </a:ext>
            </a:extLst>
          </p:cNvPr>
          <p:cNvSpPr txBox="1"/>
          <p:nvPr/>
        </p:nvSpPr>
        <p:spPr>
          <a:xfrm>
            <a:off x="1029175" y="4721294"/>
            <a:ext cx="412954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E5DCE6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Jupyter Notebook</a:t>
            </a:r>
            <a:r>
              <a:rPr lang="en-US" sz="160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· </a:t>
            </a:r>
            <a:r>
              <a:rPr lang="en-US" sz="1600" b="1" dirty="0">
                <a:solidFill>
                  <a:srgbClr val="E5DCE6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VS Code</a:t>
            </a:r>
            <a:endParaRPr lang="en-US" sz="1600" dirty="0"/>
          </a:p>
          <a:p>
            <a:endParaRPr lang="en-IN" sz="1600" dirty="0"/>
          </a:p>
        </p:txBody>
      </p:sp>
      <p:pic>
        <p:nvPicPr>
          <p:cNvPr id="227" name="Image 9" descr="preencoded.png">
            <a:extLst>
              <a:ext uri="{FF2B5EF4-FFF2-40B4-BE49-F238E27FC236}">
                <a16:creationId xmlns:a16="http://schemas.microsoft.com/office/drawing/2014/main" id="{7CE50D57-D932-189A-5957-6E80DC35573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58428" y="5755997"/>
            <a:ext cx="186035" cy="18603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E448C26-D44E-7576-5139-34DD9C87BE97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1142189" y="139498"/>
            <a:ext cx="967101" cy="1021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96070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F92243-B406-A8C3-2127-86C18950F2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>
            <a:extLst>
              <a:ext uri="{FF2B5EF4-FFF2-40B4-BE49-F238E27FC236}">
                <a16:creationId xmlns:a16="http://schemas.microsoft.com/office/drawing/2014/main" id="{733E42DA-DF1B-9641-292A-56A9F37A4C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ext 0">
            <a:extLst>
              <a:ext uri="{FF2B5EF4-FFF2-40B4-BE49-F238E27FC236}">
                <a16:creationId xmlns:a16="http://schemas.microsoft.com/office/drawing/2014/main" id="{D29860C7-43DE-90BE-D429-79D2101DCA95}"/>
              </a:ext>
            </a:extLst>
          </p:cNvPr>
          <p:cNvSpPr/>
          <p:nvPr/>
        </p:nvSpPr>
        <p:spPr>
          <a:xfrm>
            <a:off x="869745" y="824582"/>
            <a:ext cx="8776673" cy="6486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IN" sz="2400" b="1" dirty="0">
                <a:solidFill>
                  <a:srgbClr val="38BDF8"/>
                </a:solidFill>
                <a:latin typeface="Space Grotesk"/>
              </a:rPr>
              <a:t>Fundamental Concepts &amp; Data-Driven Decision</a:t>
            </a:r>
          </a:p>
        </p:txBody>
      </p:sp>
      <p:sp>
        <p:nvSpPr>
          <p:cNvPr id="8" name="Shape 1">
            <a:extLst>
              <a:ext uri="{FF2B5EF4-FFF2-40B4-BE49-F238E27FC236}">
                <a16:creationId xmlns:a16="http://schemas.microsoft.com/office/drawing/2014/main" id="{8D970704-1E53-930D-4BCB-D3E63CC57BB0}"/>
              </a:ext>
            </a:extLst>
          </p:cNvPr>
          <p:cNvSpPr/>
          <p:nvPr/>
        </p:nvSpPr>
        <p:spPr>
          <a:xfrm>
            <a:off x="958483" y="1857553"/>
            <a:ext cx="1358578" cy="708050"/>
          </a:xfrm>
          <a:prstGeom prst="roundRect">
            <a:avLst>
              <a:gd name="adj" fmla="val 7490"/>
            </a:avLst>
          </a:prstGeom>
          <a:solidFill>
            <a:srgbClr val="282D5E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10" name="Text 2">
            <a:extLst>
              <a:ext uri="{FF2B5EF4-FFF2-40B4-BE49-F238E27FC236}">
                <a16:creationId xmlns:a16="http://schemas.microsoft.com/office/drawing/2014/main" id="{E5C4A42D-4F13-B672-A5D3-DE85B3E28BA7}"/>
              </a:ext>
            </a:extLst>
          </p:cNvPr>
          <p:cNvSpPr/>
          <p:nvPr/>
        </p:nvSpPr>
        <p:spPr>
          <a:xfrm>
            <a:off x="1548958" y="2106543"/>
            <a:ext cx="177552" cy="22190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dirty="0">
                <a:solidFill>
                  <a:schemeClr val="bg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12" name="Text 3">
            <a:extLst>
              <a:ext uri="{FF2B5EF4-FFF2-40B4-BE49-F238E27FC236}">
                <a16:creationId xmlns:a16="http://schemas.microsoft.com/office/drawing/2014/main" id="{C24A2F05-40FC-CF5F-35EF-BC1578157786}"/>
              </a:ext>
            </a:extLst>
          </p:cNvPr>
          <p:cNvSpPr/>
          <p:nvPr/>
        </p:nvSpPr>
        <p:spPr>
          <a:xfrm>
            <a:off x="2443266" y="1989713"/>
            <a:ext cx="6540773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chemeClr val="bg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Data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14" name="Text 4">
            <a:extLst>
              <a:ext uri="{FF2B5EF4-FFF2-40B4-BE49-F238E27FC236}">
                <a16:creationId xmlns:a16="http://schemas.microsoft.com/office/drawing/2014/main" id="{64FCED39-3A83-990A-0265-ACE9CA28F22D}"/>
              </a:ext>
            </a:extLst>
          </p:cNvPr>
          <p:cNvSpPr/>
          <p:nvPr/>
        </p:nvSpPr>
        <p:spPr>
          <a:xfrm>
            <a:off x="2443266" y="2254404"/>
            <a:ext cx="6540773" cy="190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600" dirty="0">
                <a:solidFill>
                  <a:schemeClr val="bg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Raw facts — Marks, Salary, Age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16" name="Shape 5">
            <a:extLst>
              <a:ext uri="{FF2B5EF4-FFF2-40B4-BE49-F238E27FC236}">
                <a16:creationId xmlns:a16="http://schemas.microsoft.com/office/drawing/2014/main" id="{99943159-FDF7-1CE3-891E-BA9444383EEA}"/>
              </a:ext>
            </a:extLst>
          </p:cNvPr>
          <p:cNvSpPr/>
          <p:nvPr/>
        </p:nvSpPr>
        <p:spPr>
          <a:xfrm>
            <a:off x="2380163" y="2565603"/>
            <a:ext cx="6666979" cy="7144"/>
          </a:xfrm>
          <a:prstGeom prst="roundRect">
            <a:avLst>
              <a:gd name="adj" fmla="val 49998"/>
            </a:avLst>
          </a:prstGeom>
          <a:solidFill>
            <a:srgbClr val="414677"/>
          </a:solidFill>
          <a:ln/>
        </p:spPr>
      </p:sp>
      <p:sp>
        <p:nvSpPr>
          <p:cNvPr id="18" name="Shape 6">
            <a:extLst>
              <a:ext uri="{FF2B5EF4-FFF2-40B4-BE49-F238E27FC236}">
                <a16:creationId xmlns:a16="http://schemas.microsoft.com/office/drawing/2014/main" id="{005F92F9-07CC-6816-5281-9B35A6B8C2EC}"/>
              </a:ext>
            </a:extLst>
          </p:cNvPr>
          <p:cNvSpPr/>
          <p:nvPr/>
        </p:nvSpPr>
        <p:spPr>
          <a:xfrm>
            <a:off x="958483" y="2634659"/>
            <a:ext cx="2717229" cy="708050"/>
          </a:xfrm>
          <a:prstGeom prst="roundRect">
            <a:avLst>
              <a:gd name="adj" fmla="val 7490"/>
            </a:avLst>
          </a:prstGeom>
          <a:solidFill>
            <a:srgbClr val="282D5E"/>
          </a:solidFill>
          <a:ln/>
        </p:spPr>
      </p:sp>
      <p:sp>
        <p:nvSpPr>
          <p:cNvPr id="20" name="Text 7">
            <a:extLst>
              <a:ext uri="{FF2B5EF4-FFF2-40B4-BE49-F238E27FC236}">
                <a16:creationId xmlns:a16="http://schemas.microsoft.com/office/drawing/2014/main" id="{F83A4175-C655-B57B-92DE-DB38275A75A6}"/>
              </a:ext>
            </a:extLst>
          </p:cNvPr>
          <p:cNvSpPr/>
          <p:nvPr/>
        </p:nvSpPr>
        <p:spPr>
          <a:xfrm>
            <a:off x="2228284" y="2877696"/>
            <a:ext cx="177552" cy="22190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dirty="0">
                <a:solidFill>
                  <a:schemeClr val="bg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22" name="Text 8">
            <a:extLst>
              <a:ext uri="{FF2B5EF4-FFF2-40B4-BE49-F238E27FC236}">
                <a16:creationId xmlns:a16="http://schemas.microsoft.com/office/drawing/2014/main" id="{CF53F104-8566-91D0-7E35-55A31D7AC61F}"/>
              </a:ext>
            </a:extLst>
          </p:cNvPr>
          <p:cNvSpPr/>
          <p:nvPr/>
        </p:nvSpPr>
        <p:spPr>
          <a:xfrm>
            <a:off x="3801918" y="2760866"/>
            <a:ext cx="5182121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chemeClr val="bg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Information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24" name="Text 9">
            <a:extLst>
              <a:ext uri="{FF2B5EF4-FFF2-40B4-BE49-F238E27FC236}">
                <a16:creationId xmlns:a16="http://schemas.microsoft.com/office/drawing/2014/main" id="{7751DFB4-B1D8-78D9-09D5-E4667B8A8541}"/>
              </a:ext>
            </a:extLst>
          </p:cNvPr>
          <p:cNvSpPr/>
          <p:nvPr/>
        </p:nvSpPr>
        <p:spPr>
          <a:xfrm>
            <a:off x="3801918" y="3025557"/>
            <a:ext cx="5182121" cy="190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600" dirty="0">
                <a:solidFill>
                  <a:schemeClr val="bg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Processed data — Average salary, Highest marks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26" name="Shape 10">
            <a:extLst>
              <a:ext uri="{FF2B5EF4-FFF2-40B4-BE49-F238E27FC236}">
                <a16:creationId xmlns:a16="http://schemas.microsoft.com/office/drawing/2014/main" id="{522C5F70-593C-5D61-8C37-54DD1D1DF397}"/>
              </a:ext>
            </a:extLst>
          </p:cNvPr>
          <p:cNvSpPr/>
          <p:nvPr/>
        </p:nvSpPr>
        <p:spPr>
          <a:xfrm>
            <a:off x="3738815" y="3336756"/>
            <a:ext cx="5308327" cy="7144"/>
          </a:xfrm>
          <a:prstGeom prst="roundRect">
            <a:avLst>
              <a:gd name="adj" fmla="val 49998"/>
            </a:avLst>
          </a:prstGeom>
          <a:solidFill>
            <a:srgbClr val="414677"/>
          </a:solidFill>
          <a:ln/>
        </p:spPr>
      </p:sp>
      <p:sp>
        <p:nvSpPr>
          <p:cNvPr id="28" name="Shape 11">
            <a:extLst>
              <a:ext uri="{FF2B5EF4-FFF2-40B4-BE49-F238E27FC236}">
                <a16:creationId xmlns:a16="http://schemas.microsoft.com/office/drawing/2014/main" id="{6B583BB9-A919-FA67-E15C-F64D55008468}"/>
              </a:ext>
            </a:extLst>
          </p:cNvPr>
          <p:cNvSpPr/>
          <p:nvPr/>
        </p:nvSpPr>
        <p:spPr>
          <a:xfrm>
            <a:off x="958483" y="3405812"/>
            <a:ext cx="4075881" cy="898996"/>
          </a:xfrm>
          <a:prstGeom prst="roundRect">
            <a:avLst>
              <a:gd name="adj" fmla="val 5899"/>
            </a:avLst>
          </a:prstGeom>
          <a:solidFill>
            <a:srgbClr val="282D5E"/>
          </a:solidFill>
          <a:ln/>
        </p:spPr>
      </p:sp>
      <p:sp>
        <p:nvSpPr>
          <p:cNvPr id="30" name="Text 12">
            <a:extLst>
              <a:ext uri="{FF2B5EF4-FFF2-40B4-BE49-F238E27FC236}">
                <a16:creationId xmlns:a16="http://schemas.microsoft.com/office/drawing/2014/main" id="{817D163C-07F3-730D-838D-E9B8F1B188F7}"/>
              </a:ext>
            </a:extLst>
          </p:cNvPr>
          <p:cNvSpPr/>
          <p:nvPr/>
        </p:nvSpPr>
        <p:spPr>
          <a:xfrm>
            <a:off x="2907610" y="3744322"/>
            <a:ext cx="177552" cy="22190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dirty="0">
                <a:solidFill>
                  <a:schemeClr val="bg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32" name="Text 13">
            <a:extLst>
              <a:ext uri="{FF2B5EF4-FFF2-40B4-BE49-F238E27FC236}">
                <a16:creationId xmlns:a16="http://schemas.microsoft.com/office/drawing/2014/main" id="{9525B52F-9548-53D9-B949-0BDA7B39CA1A}"/>
              </a:ext>
            </a:extLst>
          </p:cNvPr>
          <p:cNvSpPr/>
          <p:nvPr/>
        </p:nvSpPr>
        <p:spPr>
          <a:xfrm>
            <a:off x="5160570" y="3532019"/>
            <a:ext cx="3823469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chemeClr val="bg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Knowledge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34" name="Text 14">
            <a:extLst>
              <a:ext uri="{FF2B5EF4-FFF2-40B4-BE49-F238E27FC236}">
                <a16:creationId xmlns:a16="http://schemas.microsoft.com/office/drawing/2014/main" id="{51AAA0B2-5AD5-4D4F-ED83-9008663566E7}"/>
              </a:ext>
            </a:extLst>
          </p:cNvPr>
          <p:cNvSpPr/>
          <p:nvPr/>
        </p:nvSpPr>
        <p:spPr>
          <a:xfrm>
            <a:off x="5160570" y="3796709"/>
            <a:ext cx="6284178" cy="3818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600" dirty="0">
                <a:solidFill>
                  <a:schemeClr val="bg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Meaningful insights — "Students scoring below 40 require additional support"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44" name="Text 15">
            <a:extLst>
              <a:ext uri="{FF2B5EF4-FFF2-40B4-BE49-F238E27FC236}">
                <a16:creationId xmlns:a16="http://schemas.microsoft.com/office/drawing/2014/main" id="{112B8C47-E200-5F84-B217-62939B0E18CD}"/>
              </a:ext>
            </a:extLst>
          </p:cNvPr>
          <p:cNvSpPr/>
          <p:nvPr/>
        </p:nvSpPr>
        <p:spPr>
          <a:xfrm>
            <a:off x="857950" y="4995017"/>
            <a:ext cx="4936272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chemeClr val="bg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Traditional Decisions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46" name="Text 16">
            <a:extLst>
              <a:ext uri="{FF2B5EF4-FFF2-40B4-BE49-F238E27FC236}">
                <a16:creationId xmlns:a16="http://schemas.microsoft.com/office/drawing/2014/main" id="{8B55B80B-CE1E-48AA-7730-4369D1E07CC5}"/>
              </a:ext>
            </a:extLst>
          </p:cNvPr>
          <p:cNvSpPr/>
          <p:nvPr/>
        </p:nvSpPr>
        <p:spPr>
          <a:xfrm>
            <a:off x="857950" y="5304729"/>
            <a:ext cx="3989353" cy="10097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600" dirty="0">
                <a:solidFill>
                  <a:schemeClr val="bg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Based on experience and assumptions — often subjective and inconsistent.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48" name="Text 17">
            <a:extLst>
              <a:ext uri="{FF2B5EF4-FFF2-40B4-BE49-F238E27FC236}">
                <a16:creationId xmlns:a16="http://schemas.microsoft.com/office/drawing/2014/main" id="{6DA65ECA-33A9-450A-F113-5F685639B67E}"/>
              </a:ext>
            </a:extLst>
          </p:cNvPr>
          <p:cNvSpPr/>
          <p:nvPr/>
        </p:nvSpPr>
        <p:spPr>
          <a:xfrm>
            <a:off x="5794222" y="5030697"/>
            <a:ext cx="4936272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chemeClr val="bg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Data-Driven Decisions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50" name="Text 18">
            <a:extLst>
              <a:ext uri="{FF2B5EF4-FFF2-40B4-BE49-F238E27FC236}">
                <a16:creationId xmlns:a16="http://schemas.microsoft.com/office/drawing/2014/main" id="{96F2A56E-06FF-80B1-56E7-F230A4B6EDA0}"/>
              </a:ext>
            </a:extLst>
          </p:cNvPr>
          <p:cNvSpPr/>
          <p:nvPr/>
        </p:nvSpPr>
        <p:spPr>
          <a:xfrm>
            <a:off x="5794221" y="5340024"/>
            <a:ext cx="5453881" cy="5728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600" dirty="0">
                <a:solidFill>
                  <a:schemeClr val="bg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Based on facts, analysis, and evidence. Example: A restaurant owner analyzes sales reports to identify best-selling dishes instead of relying on guesswork.</a:t>
            </a:r>
            <a:endParaRPr lang="en-US" sz="1600" dirty="0">
              <a:solidFill>
                <a:schemeClr val="bg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BB7A0B4-B2D3-7EED-4B6A-4DD549A9DE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23170" y="139498"/>
            <a:ext cx="1185057" cy="12522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41530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2565201"/>
            <a:ext cx="3536900" cy="2537221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27475" y="2565201"/>
            <a:ext cx="3536900" cy="2537221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73925" y="2565201"/>
            <a:ext cx="3536900" cy="253722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19150" y="3384351"/>
            <a:ext cx="3213682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F1F5F9"/>
                </a:solidFill>
                <a:latin typeface="Space Grotesk"/>
              </a:rPr>
              <a:t>Fintech &amp; Banking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9150" y="3746301"/>
            <a:ext cx="3060650" cy="10036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76"/>
              </a:lnSpc>
            </a:pPr>
            <a:r>
              <a:rPr sz="1275" b="0" i="0" u="none" dirty="0">
                <a:solidFill>
                  <a:schemeClr val="bg1"/>
                </a:solidFill>
                <a:latin typeface="Plus Jakarta Sans"/>
              </a:rPr>
              <a:t>Real-time fraud detection algorithms, algorithmic trading strategies, credit risk assessment models, and automated customer underwriting.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65600" y="3384351"/>
            <a:ext cx="3213682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F1F5F9"/>
                </a:solidFill>
                <a:latin typeface="Space Grotesk"/>
              </a:rPr>
              <a:t>Healthcare &amp; Biotech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65600" y="3746301"/>
            <a:ext cx="3060650" cy="748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76"/>
              </a:lnSpc>
            </a:pPr>
            <a:r>
              <a:rPr sz="1275" b="0" i="0" u="none" dirty="0">
                <a:solidFill>
                  <a:schemeClr val="bg1"/>
                </a:solidFill>
                <a:latin typeface="Plus Jakarta Sans"/>
              </a:rPr>
              <a:t>AI-assisted radiologic diagnosis, genomic sequencing analysis, predictive patient triage, and accelerated drug discovery pipelines.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12050" y="3384351"/>
            <a:ext cx="3213682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F1F5F9"/>
                </a:solidFill>
                <a:latin typeface="Space Grotesk"/>
              </a:rPr>
              <a:t>E-Commerce &amp; Retail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12050" y="3746301"/>
            <a:ext cx="3060650" cy="10036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76"/>
              </a:lnSpc>
            </a:pPr>
            <a:r>
              <a:rPr sz="1275" b="0" i="0" u="none" dirty="0">
                <a:solidFill>
                  <a:schemeClr val="bg1"/>
                </a:solidFill>
                <a:latin typeface="Plus Jakarta Sans"/>
              </a:rPr>
              <a:t>Hyper-personalized recommendation engines (Collaborative Filtering), dynamic surge pricing, supply chain forecasting, and churn prediction.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9150" y="2860476"/>
            <a:ext cx="342900" cy="3429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65600" y="2860476"/>
            <a:ext cx="342900" cy="3429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12050" y="2860476"/>
            <a:ext cx="390525" cy="3429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81025" y="485775"/>
            <a:ext cx="11581447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50" b="1" i="0" u="none">
                <a:solidFill>
                  <a:srgbClr val="38BDF8"/>
                </a:solidFill>
                <a:latin typeface="Space Grotesk"/>
              </a:rPr>
              <a:t>Scope &amp; Industry Applications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81025" y="990600"/>
            <a:ext cx="11029950" cy="19050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70552092-6E83-AA40-BD6C-A8BBA1F6B05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957408" y="139498"/>
            <a:ext cx="1042856" cy="1101987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81025" y="2237928"/>
            <a:ext cx="11029950" cy="3191767"/>
          </a:xfrm>
          <a:prstGeom prst="roundRect">
            <a:avLst>
              <a:gd name="adj" fmla="val 0"/>
            </a:avLst>
          </a:prstGeom>
          <a:solidFill>
            <a:srgbClr val="1E293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81025" y="2237928"/>
          <a:ext cx="11020422" cy="31917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348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851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5186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4855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38353">
                <a:tc>
                  <a:txBody>
                    <a:bodyPr/>
                    <a:lstStyle/>
                    <a:p>
                      <a:pPr algn="l"/>
                      <a:r>
                        <a:rPr sz="1275" b="1" i="0" u="none">
                          <a:solidFill>
                            <a:srgbClr val="38BDF8"/>
                          </a:solidFill>
                          <a:latin typeface="Space Grotesk"/>
                        </a:rPr>
                        <a:t>Role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1" i="0" u="none">
                          <a:solidFill>
                            <a:srgbClr val="38BDF8"/>
                          </a:solidFill>
                          <a:latin typeface="Space Grotesk"/>
                        </a:rPr>
                        <a:t>Primary Focus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1" i="0" u="none">
                          <a:solidFill>
                            <a:srgbClr val="38BDF8"/>
                          </a:solidFill>
                          <a:latin typeface="Space Grotesk"/>
                        </a:rPr>
                        <a:t>Key Technical Stack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1" i="0" u="none">
                          <a:solidFill>
                            <a:srgbClr val="38BDF8"/>
                          </a:solidFill>
                          <a:latin typeface="Space Grotesk"/>
                        </a:rPr>
                        <a:t>Deliverable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8353"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Data Analyst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Historical trend analysis &amp; diagnostic reporting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SQL, Tableau, PowerBI, Excel, Stats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Executive Dashboards &amp; Reports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8353"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Data Engineer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Architecting scalable data infrastructure &amp; pipelines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SQL, Python, Spark, Kafka, Airflow, AWS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ETL Pipelines &amp; Data Warehouses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38353"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Data Scientist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Statistical modeling, feature engineering &amp; prediction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Python, R, Scikit-Learn, Pandas, Math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Predictive Machine Learning Models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38355"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ML / AI Engineer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Scaling, optimizing, and deploying AI models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PyTorch, TensorFlow, MLOps, Docker, C++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Production API Microservices &amp; LLMs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585787" y="2760315"/>
            <a:ext cx="1434851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020639" y="2760315"/>
            <a:ext cx="3785145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805785" y="2760315"/>
            <a:ext cx="3051869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857654" y="2760315"/>
            <a:ext cx="2748557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85787" y="3257996"/>
            <a:ext cx="1434851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2020639" y="3257996"/>
            <a:ext cx="3785145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805785" y="3257996"/>
            <a:ext cx="3051869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857654" y="3257996"/>
            <a:ext cx="2748557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85787" y="3977133"/>
            <a:ext cx="1434851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2020639" y="3977133"/>
            <a:ext cx="3785145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805785" y="3977133"/>
            <a:ext cx="3051869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857654" y="3977133"/>
            <a:ext cx="2748557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85787" y="4696271"/>
            <a:ext cx="1434851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2020639" y="4696271"/>
            <a:ext cx="3785145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805785" y="4696271"/>
            <a:ext cx="3051869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8857654" y="4696271"/>
            <a:ext cx="2748557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585787" y="5415408"/>
            <a:ext cx="1434851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2020639" y="5415408"/>
            <a:ext cx="3785145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5805785" y="5415408"/>
            <a:ext cx="3051869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8857654" y="5415408"/>
            <a:ext cx="2748557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81025" y="485775"/>
            <a:ext cx="11581447" cy="3924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50" b="1" i="0" u="none" dirty="0">
                <a:solidFill>
                  <a:srgbClr val="0070C0"/>
                </a:solidFill>
                <a:latin typeface="Space Grotesk"/>
              </a:rPr>
              <a:t>Key Roles in the Data Ecosystem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81025" y="990600"/>
            <a:ext cx="11029950" cy="19050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B1104700-99AC-37BB-0AFD-77973454FF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16158" y="165482"/>
            <a:ext cx="977570" cy="1032999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81025" y="1362601"/>
            <a:ext cx="5615701" cy="2539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F1F5F9"/>
                </a:solidFill>
                <a:latin typeface="Plus Jakarta Sans"/>
              </a:rPr>
              <a:t>What is Artificial Intelligence?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1025" y="1724551"/>
            <a:ext cx="6714510" cy="748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ts val="1976"/>
              </a:lnSpc>
            </a:pPr>
            <a:r>
              <a:rPr lang="en-US" sz="1280" dirty="0">
                <a:solidFill>
                  <a:srgbClr val="E5DCE6"/>
                </a:solidFill>
                <a:latin typeface="Plus Jakarta Sans"/>
                <a:ea typeface="Montserrat" pitchFamily="34" charset="-122"/>
                <a:cs typeface="Montserrat" pitchFamily="34" charset="-120"/>
              </a:rPr>
              <a:t>AI enables machines to imitate human intelligence — learning, reasoning, solving problems, and making decisions.</a:t>
            </a:r>
            <a:endParaRPr lang="en-US" sz="1280" dirty="0">
              <a:latin typeface="Plus Jakarta Sans"/>
            </a:endParaRPr>
          </a:p>
          <a:p>
            <a:pPr algn="l">
              <a:lnSpc>
                <a:spcPts val="1976"/>
              </a:lnSpc>
            </a:pPr>
            <a:endParaRPr sz="1275" b="0" i="0" u="none" dirty="0">
              <a:solidFill>
                <a:schemeClr val="bg1"/>
              </a:solidFill>
              <a:latin typeface="Plus Jakarta San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81025" y="2319019"/>
            <a:ext cx="85725" cy="1962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75" b="0" i="0" u="none">
                <a:solidFill>
                  <a:srgbClr val="94A3B8"/>
                </a:solidFill>
                <a:latin typeface="Plus Jakarta Sans"/>
              </a:rPr>
              <a:t>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6750" y="2317352"/>
            <a:ext cx="5157787" cy="501848"/>
          </a:xfrm>
          <a:prstGeom prst="rect">
            <a:avLst/>
          </a:prstGeom>
          <a:noFill/>
        </p:spPr>
        <p:txBody>
          <a:bodyPr wrap="square" lIns="85725" tIns="0" rIns="0" bIns="0" anchor="t">
            <a:spAutoFit/>
          </a:bodyPr>
          <a:lstStyle/>
          <a:p>
            <a:pPr algn="l">
              <a:lnSpc>
                <a:spcPts val="1976"/>
              </a:lnSpc>
            </a:pPr>
            <a:r>
              <a:rPr sz="1275" b="1" i="0" u="none" dirty="0">
                <a:solidFill>
                  <a:schemeClr val="bg1"/>
                </a:solidFill>
                <a:latin typeface="Plus Jakarta Sans"/>
              </a:rPr>
              <a:t>Narrow AI (ANI):</a:t>
            </a:r>
            <a:r>
              <a:rPr sz="1275" b="0" i="0" u="none" dirty="0">
                <a:solidFill>
                  <a:schemeClr val="bg1"/>
                </a:solidFill>
                <a:latin typeface="Plus Jakarta Sans"/>
              </a:rPr>
              <a:t> Specialized AI optimized for specific tasks (e.g., chess engines, spam filters, facial recognition).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1025" y="2916117"/>
            <a:ext cx="85725" cy="1962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75" b="0" i="0" u="none">
                <a:solidFill>
                  <a:srgbClr val="94A3B8"/>
                </a:solidFill>
                <a:latin typeface="Plus Jakarta Sans"/>
              </a:rP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6750" y="2914450"/>
            <a:ext cx="5157787" cy="501848"/>
          </a:xfrm>
          <a:prstGeom prst="rect">
            <a:avLst/>
          </a:prstGeom>
          <a:noFill/>
        </p:spPr>
        <p:txBody>
          <a:bodyPr wrap="square" lIns="85725" tIns="0" rIns="0" bIns="0" anchor="t">
            <a:spAutoFit/>
          </a:bodyPr>
          <a:lstStyle/>
          <a:p>
            <a:pPr algn="l">
              <a:lnSpc>
                <a:spcPts val="1976"/>
              </a:lnSpc>
            </a:pPr>
            <a:r>
              <a:rPr sz="1275" b="1" i="0" u="none" dirty="0">
                <a:solidFill>
                  <a:schemeClr val="bg1"/>
                </a:solidFill>
                <a:latin typeface="Plus Jakarta Sans"/>
              </a:rPr>
              <a:t>General AI (AGI):</a:t>
            </a:r>
            <a:r>
              <a:rPr sz="1275" b="0" i="0" u="none" dirty="0">
                <a:solidFill>
                  <a:schemeClr val="bg1"/>
                </a:solidFill>
                <a:latin typeface="Plus Jakarta Sans"/>
              </a:rPr>
              <a:t> Hypothetical AI possessing human-level adaptability across any intellectual domain.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1025" y="3513215"/>
            <a:ext cx="85725" cy="1962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75" b="0" i="0" u="none">
                <a:solidFill>
                  <a:srgbClr val="94A3B8"/>
                </a:solidFill>
                <a:latin typeface="Plus Jakarta Sans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6750" y="3511549"/>
            <a:ext cx="5157787" cy="501848"/>
          </a:xfrm>
          <a:prstGeom prst="rect">
            <a:avLst/>
          </a:prstGeom>
          <a:noFill/>
        </p:spPr>
        <p:txBody>
          <a:bodyPr wrap="square" lIns="85725" tIns="0" rIns="0" bIns="0" anchor="t">
            <a:spAutoFit/>
          </a:bodyPr>
          <a:lstStyle/>
          <a:p>
            <a:pPr algn="l">
              <a:lnSpc>
                <a:spcPts val="1976"/>
              </a:lnSpc>
            </a:pPr>
            <a:r>
              <a:rPr sz="1275" b="1" i="0" u="none" dirty="0">
                <a:solidFill>
                  <a:schemeClr val="bg1"/>
                </a:solidFill>
                <a:latin typeface="Plus Jakarta Sans"/>
              </a:rPr>
              <a:t>Super AI (ASI):</a:t>
            </a:r>
            <a:r>
              <a:rPr sz="1275" b="0" i="0" u="none" dirty="0">
                <a:solidFill>
                  <a:schemeClr val="bg1"/>
                </a:solidFill>
                <a:latin typeface="Plus Jakarta Sans"/>
              </a:rPr>
              <a:t> Theoretical intelligence surpassing human capabilities across all creative and logical tasks.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1025" y="485775"/>
            <a:ext cx="11581447" cy="3924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50" b="1" i="0" u="none">
                <a:solidFill>
                  <a:srgbClr val="38BDF8"/>
                </a:solidFill>
                <a:latin typeface="Plus Jakarta Sans"/>
              </a:rPr>
              <a:t>Artificial Intelligence Overview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81025" y="990600"/>
            <a:ext cx="11029950" cy="19050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Plus Jakarta Sans"/>
            </a:endParaRPr>
          </a:p>
        </p:txBody>
      </p:sp>
      <p:pic>
        <p:nvPicPr>
          <p:cNvPr id="16" name="Image 1" descr="preencoded.png">
            <a:extLst>
              <a:ext uri="{FF2B5EF4-FFF2-40B4-BE49-F238E27FC236}">
                <a16:creationId xmlns:a16="http://schemas.microsoft.com/office/drawing/2014/main" id="{B87FAD3A-6B19-30FB-893B-775B2D10EDB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3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240512" y="1145567"/>
            <a:ext cx="4001784" cy="4120009"/>
          </a:xfrm>
          <a:prstGeom prst="rect">
            <a:avLst/>
          </a:prstGeom>
        </p:spPr>
      </p:pic>
      <p:sp>
        <p:nvSpPr>
          <p:cNvPr id="35" name="Text 2">
            <a:extLst>
              <a:ext uri="{FF2B5EF4-FFF2-40B4-BE49-F238E27FC236}">
                <a16:creationId xmlns:a16="http://schemas.microsoft.com/office/drawing/2014/main" id="{F457484E-691F-D1A7-A907-F203E37066FB}"/>
              </a:ext>
            </a:extLst>
          </p:cNvPr>
          <p:cNvSpPr/>
          <p:nvPr/>
        </p:nvSpPr>
        <p:spPr>
          <a:xfrm>
            <a:off x="642621" y="4445385"/>
            <a:ext cx="218844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80" dirty="0">
                <a:solidFill>
                  <a:srgbClr val="38BDF8"/>
                </a:solidFill>
                <a:latin typeface="Plus Jakarta Sans"/>
                <a:ea typeface="Bricolage Grotesque ExtraBold" pitchFamily="34" charset="-122"/>
                <a:cs typeface="Bricolage Grotesque ExtraBold" pitchFamily="34" charset="-120"/>
              </a:rPr>
              <a:t>AI Can</a:t>
            </a:r>
            <a:endParaRPr lang="en-US" sz="1280" dirty="0">
              <a:solidFill>
                <a:srgbClr val="38BDF8"/>
              </a:solidFill>
              <a:latin typeface="Plus Jakarta Sans"/>
            </a:endParaRPr>
          </a:p>
        </p:txBody>
      </p:sp>
      <p:sp>
        <p:nvSpPr>
          <p:cNvPr id="37" name="Text 3">
            <a:extLst>
              <a:ext uri="{FF2B5EF4-FFF2-40B4-BE49-F238E27FC236}">
                <a16:creationId xmlns:a16="http://schemas.microsoft.com/office/drawing/2014/main" id="{D3B545A1-4513-7E01-3EE6-E0472F85A2E3}"/>
              </a:ext>
            </a:extLst>
          </p:cNvPr>
          <p:cNvSpPr/>
          <p:nvPr/>
        </p:nvSpPr>
        <p:spPr>
          <a:xfrm>
            <a:off x="603619" y="4735553"/>
            <a:ext cx="2188443" cy="1332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280" dirty="0">
                <a:solidFill>
                  <a:srgbClr val="E5DCE6"/>
                </a:solidFill>
                <a:latin typeface="Plus Jakarta Sans"/>
                <a:ea typeface="Montserrat" pitchFamily="34" charset="-122"/>
                <a:cs typeface="Montserrat" pitchFamily="34" charset="-120"/>
              </a:rPr>
              <a:t>Learn from data</a:t>
            </a:r>
            <a:endParaRPr lang="en-US" sz="1280" dirty="0">
              <a:latin typeface="Plus Jakarta Sans"/>
            </a:endParaRPr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280" dirty="0">
                <a:solidFill>
                  <a:srgbClr val="E5DCE6"/>
                </a:solidFill>
                <a:latin typeface="Plus Jakarta Sans"/>
                <a:ea typeface="Montserrat" pitchFamily="34" charset="-122"/>
                <a:cs typeface="Montserrat" pitchFamily="34" charset="-120"/>
              </a:rPr>
              <a:t>Predict outcomes</a:t>
            </a:r>
            <a:endParaRPr lang="en-US" sz="1280" dirty="0">
              <a:latin typeface="Plus Jakarta Sans"/>
            </a:endParaRPr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280" dirty="0">
                <a:solidFill>
                  <a:srgbClr val="E5DCE6"/>
                </a:solidFill>
                <a:latin typeface="Plus Jakarta Sans"/>
                <a:ea typeface="Montserrat" pitchFamily="34" charset="-122"/>
                <a:cs typeface="Montserrat" pitchFamily="34" charset="-120"/>
              </a:rPr>
              <a:t>Recognize images</a:t>
            </a:r>
            <a:endParaRPr lang="en-US" sz="1280" dirty="0">
              <a:latin typeface="Plus Jakarta Sans"/>
            </a:endParaRPr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280" dirty="0">
                <a:solidFill>
                  <a:srgbClr val="E5DCE6"/>
                </a:solidFill>
                <a:latin typeface="Plus Jakarta Sans"/>
                <a:ea typeface="Montserrat" pitchFamily="34" charset="-122"/>
                <a:cs typeface="Montserrat" pitchFamily="34" charset="-120"/>
              </a:rPr>
              <a:t>Understand speech</a:t>
            </a:r>
            <a:endParaRPr lang="en-US" sz="1280" dirty="0">
              <a:latin typeface="Plus Jakarta Sans"/>
            </a:endParaRPr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280" dirty="0">
                <a:solidFill>
                  <a:srgbClr val="E5DCE6"/>
                </a:solidFill>
                <a:latin typeface="Plus Jakarta Sans"/>
                <a:ea typeface="Montserrat" pitchFamily="34" charset="-122"/>
                <a:cs typeface="Montserrat" pitchFamily="34" charset="-120"/>
              </a:rPr>
              <a:t>Make intelligent decisions</a:t>
            </a:r>
            <a:endParaRPr lang="en-US" sz="1280" dirty="0">
              <a:latin typeface="Plus Jakarta Sans"/>
            </a:endParaRPr>
          </a:p>
        </p:txBody>
      </p:sp>
      <p:sp>
        <p:nvSpPr>
          <p:cNvPr id="39" name="Text 4">
            <a:extLst>
              <a:ext uri="{FF2B5EF4-FFF2-40B4-BE49-F238E27FC236}">
                <a16:creationId xmlns:a16="http://schemas.microsoft.com/office/drawing/2014/main" id="{0F9ECE90-9384-E85B-FBF8-C81C07097D17}"/>
              </a:ext>
            </a:extLst>
          </p:cNvPr>
          <p:cNvSpPr/>
          <p:nvPr/>
        </p:nvSpPr>
        <p:spPr>
          <a:xfrm>
            <a:off x="5196586" y="4533124"/>
            <a:ext cx="218844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80" dirty="0">
                <a:solidFill>
                  <a:srgbClr val="38BDF8"/>
                </a:solidFill>
                <a:latin typeface="Plus Jakarta Sans"/>
                <a:ea typeface="Bricolage Grotesque ExtraBold" pitchFamily="34" charset="-122"/>
                <a:cs typeface="Bricolage Grotesque ExtraBold" pitchFamily="34" charset="-120"/>
              </a:rPr>
              <a:t>Examples in the Wild</a:t>
            </a:r>
            <a:endParaRPr lang="en-US" sz="1280" dirty="0">
              <a:solidFill>
                <a:srgbClr val="38BDF8"/>
              </a:solidFill>
              <a:latin typeface="Plus Jakarta Sans"/>
            </a:endParaRPr>
          </a:p>
        </p:txBody>
      </p:sp>
      <p:sp>
        <p:nvSpPr>
          <p:cNvPr id="41" name="Text 5">
            <a:extLst>
              <a:ext uri="{FF2B5EF4-FFF2-40B4-BE49-F238E27FC236}">
                <a16:creationId xmlns:a16="http://schemas.microsoft.com/office/drawing/2014/main" id="{EE43BF53-8832-4742-A490-B850FE9ED66F}"/>
              </a:ext>
            </a:extLst>
          </p:cNvPr>
          <p:cNvSpPr/>
          <p:nvPr/>
        </p:nvSpPr>
        <p:spPr>
          <a:xfrm>
            <a:off x="5196586" y="4896339"/>
            <a:ext cx="2188443" cy="1055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280" dirty="0">
                <a:solidFill>
                  <a:srgbClr val="E5DCE6"/>
                </a:solidFill>
                <a:latin typeface="Plus Jakarta Sans"/>
                <a:ea typeface="Montserrat" pitchFamily="34" charset="-122"/>
                <a:cs typeface="Montserrat" pitchFamily="34" charset="-120"/>
              </a:rPr>
              <a:t>ChatGPT</a:t>
            </a:r>
            <a:endParaRPr lang="en-US" sz="1280" dirty="0">
              <a:latin typeface="Plus Jakarta Sans"/>
            </a:endParaRPr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280" dirty="0">
                <a:solidFill>
                  <a:srgbClr val="E5DCE6"/>
                </a:solidFill>
                <a:latin typeface="Plus Jakarta Sans"/>
                <a:ea typeface="Montserrat" pitchFamily="34" charset="-122"/>
                <a:cs typeface="Montserrat" pitchFamily="34" charset="-120"/>
              </a:rPr>
              <a:t>Siri &amp; Alexa</a:t>
            </a:r>
            <a:endParaRPr lang="en-US" sz="1280" dirty="0">
              <a:latin typeface="Plus Jakarta Sans"/>
            </a:endParaRPr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280" dirty="0">
                <a:solidFill>
                  <a:srgbClr val="E5DCE6"/>
                </a:solidFill>
                <a:latin typeface="Plus Jakarta Sans"/>
                <a:ea typeface="Montserrat" pitchFamily="34" charset="-122"/>
                <a:cs typeface="Montserrat" pitchFamily="34" charset="-120"/>
              </a:rPr>
              <a:t>Google Maps</a:t>
            </a:r>
            <a:endParaRPr lang="en-US" sz="1280" dirty="0">
              <a:latin typeface="Plus Jakarta Sans"/>
            </a:endParaRPr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280" dirty="0">
                <a:solidFill>
                  <a:srgbClr val="E5DCE6"/>
                </a:solidFill>
                <a:latin typeface="Plus Jakarta Sans"/>
                <a:ea typeface="Montserrat" pitchFamily="34" charset="-122"/>
                <a:cs typeface="Montserrat" pitchFamily="34" charset="-120"/>
              </a:rPr>
              <a:t>Self-driving cars</a:t>
            </a:r>
            <a:endParaRPr lang="en-US" sz="1280" dirty="0">
              <a:latin typeface="Plus Jakarta Sans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2AD705C9-551B-6954-85F8-C7498B3578D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33471" y="158549"/>
            <a:ext cx="974756" cy="103002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2257127"/>
            <a:ext cx="3536900" cy="315337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27475" y="2257127"/>
            <a:ext cx="3536900" cy="315337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73925" y="2257127"/>
            <a:ext cx="3536900" cy="315337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19150" y="3076277"/>
            <a:ext cx="3213682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F1F5F9"/>
                </a:solidFill>
                <a:latin typeface="Space Grotesk"/>
              </a:rPr>
              <a:t>Supervised Learning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9150" y="3438227"/>
            <a:ext cx="3060650" cy="7527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76"/>
              </a:lnSpc>
            </a:pPr>
            <a:r>
              <a:rPr sz="1275" b="0" i="0" u="none">
                <a:solidFill>
                  <a:srgbClr val="94A3B8"/>
                </a:solidFill>
                <a:latin typeface="Plus Jakarta Sans"/>
              </a:rPr>
              <a:t>The model learns from labeled historical training datasets mapping inputs $X$ to outputs $Y$.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9150" y="4305300"/>
            <a:ext cx="3060650" cy="5018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76"/>
              </a:lnSpc>
            </a:pPr>
            <a:r>
              <a:rPr sz="1275" b="1" i="0" u="none">
                <a:solidFill>
                  <a:srgbClr val="94A3B8"/>
                </a:solidFill>
                <a:latin typeface="Plus Jakarta Sans"/>
              </a:rPr>
              <a:t>Tasks:</a:t>
            </a:r>
            <a:r>
              <a:rPr sz="1275" b="0" i="0" u="none">
                <a:solidFill>
                  <a:srgbClr val="94A3B8"/>
                </a:solidFill>
                <a:latin typeface="Plus Jakarta Sans"/>
              </a:rPr>
              <a:t> Classification (spam vs ham) and Regression (predicting housing prices).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65600" y="3076277"/>
            <a:ext cx="3213682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F1F5F9"/>
                </a:solidFill>
                <a:latin typeface="Space Grotesk"/>
              </a:rPr>
              <a:t>Unsupervised Learning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65600" y="3438227"/>
            <a:ext cx="3060650" cy="7527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76"/>
              </a:lnSpc>
            </a:pPr>
            <a:r>
              <a:rPr sz="1275" b="0" i="0" u="none">
                <a:solidFill>
                  <a:srgbClr val="94A3B8"/>
                </a:solidFill>
                <a:latin typeface="Plus Jakarta Sans"/>
              </a:rPr>
              <a:t>The model discovers hidden patterns, structures, and clusters within unlabeled data streams.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65600" y="4305300"/>
            <a:ext cx="3060650" cy="7527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76"/>
              </a:lnSpc>
            </a:pPr>
            <a:r>
              <a:rPr sz="1275" b="1" i="0" u="none">
                <a:solidFill>
                  <a:srgbClr val="94A3B8"/>
                </a:solidFill>
                <a:latin typeface="Plus Jakarta Sans"/>
              </a:rPr>
              <a:t>Tasks:</a:t>
            </a:r>
            <a:r>
              <a:rPr sz="1275" b="0" i="0" u="none">
                <a:solidFill>
                  <a:srgbClr val="94A3B8"/>
                </a:solidFill>
                <a:latin typeface="Plus Jakarta Sans"/>
              </a:rPr>
              <a:t> Customer Segmentation (K-Means) and Dimensionality Reduction (PCA).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12050" y="3076277"/>
            <a:ext cx="3213682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F1F5F9"/>
                </a:solidFill>
                <a:latin typeface="Space Grotesk"/>
              </a:rPr>
              <a:t>Reinforcement Learning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12050" y="3438227"/>
            <a:ext cx="3060650" cy="10036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76"/>
              </a:lnSpc>
            </a:pPr>
            <a:r>
              <a:rPr sz="1275" b="0" i="0" u="none" dirty="0">
                <a:solidFill>
                  <a:srgbClr val="94A3B8"/>
                </a:solidFill>
                <a:latin typeface="Plus Jakarta Sans"/>
              </a:rPr>
              <a:t>An autonomous agent learns optimal behavioral policies through trial-and-error interactions in an environment via rewards and penalties.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12050" y="4556224"/>
            <a:ext cx="3060650" cy="5018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76"/>
              </a:lnSpc>
            </a:pPr>
            <a:r>
              <a:rPr sz="1275" b="1" i="0" u="none" dirty="0">
                <a:solidFill>
                  <a:srgbClr val="94A3B8"/>
                </a:solidFill>
                <a:latin typeface="Plus Jakarta Sans"/>
              </a:rPr>
              <a:t>Tasks:</a:t>
            </a:r>
            <a:r>
              <a:rPr sz="1275" b="0" i="0" u="none" dirty="0">
                <a:solidFill>
                  <a:srgbClr val="94A3B8"/>
                </a:solidFill>
                <a:latin typeface="Plus Jakarta Sans"/>
              </a:rPr>
              <a:t> Robotics, Self-Driving Vehicles, AlphaGo.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9150" y="2552402"/>
            <a:ext cx="342900" cy="3429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65600" y="2552402"/>
            <a:ext cx="390525" cy="3429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12050" y="2552402"/>
            <a:ext cx="428625" cy="3429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81025" y="485775"/>
            <a:ext cx="11581447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50" b="1" i="0" u="none">
                <a:solidFill>
                  <a:srgbClr val="38BDF8"/>
                </a:solidFill>
                <a:latin typeface="Space Grotesk"/>
              </a:rPr>
              <a:t>Understanding Machine Learning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81025" y="990600"/>
            <a:ext cx="11029950" cy="19050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82CA52E2-2A87-487A-8C0B-92E30AD32E1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014328" y="120448"/>
            <a:ext cx="1022807" cy="1080801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2433339"/>
            <a:ext cx="5348287" cy="280094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2687" y="2433339"/>
            <a:ext cx="5348287" cy="280094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76300" y="2728614"/>
            <a:ext cx="4995624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38BDF8"/>
                </a:solidFill>
                <a:latin typeface="Space Grotesk"/>
              </a:rPr>
              <a:t>Subfield of Machine Learning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6300" y="3090564"/>
            <a:ext cx="4757737" cy="10036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76"/>
              </a:lnSpc>
            </a:pPr>
            <a:r>
              <a:rPr sz="1275" b="0" i="0" u="none">
                <a:solidFill>
                  <a:srgbClr val="94A3B8"/>
                </a:solidFill>
                <a:latin typeface="Plus Jakarta Sans"/>
              </a:rPr>
              <a:t>Deep Learning uses Artificial Neural Networks (ANNs) inspired by biological brain architectures. Multiple hidden layers automatically extract hierarchical feature representations directly from raw inputs.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6300" y="4208561"/>
            <a:ext cx="4757737" cy="5018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76"/>
              </a:lnSpc>
            </a:pPr>
            <a:r>
              <a:rPr sz="1275" b="0" i="0" u="none">
                <a:solidFill>
                  <a:srgbClr val="94A3B8"/>
                </a:solidFill>
                <a:latin typeface="Plus Jakarta Sans"/>
              </a:rPr>
              <a:t>Eliminates manual feature engineering for high-dimensional, unstructured data formats.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57962" y="2728614"/>
            <a:ext cx="4995624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38BDF8"/>
                </a:solidFill>
                <a:latin typeface="Space Grotesk"/>
              </a:rPr>
              <a:t>Key Breakthrough Domains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57962" y="3090564"/>
            <a:ext cx="4757737" cy="5018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76"/>
              </a:lnSpc>
            </a:pPr>
            <a:r>
              <a:rPr sz="1275" b="1" i="0" u="none">
                <a:solidFill>
                  <a:srgbClr val="94A3B8"/>
                </a:solidFill>
                <a:latin typeface="Plus Jakarta Sans"/>
              </a:rPr>
              <a:t>Computer Vision (CNNs):</a:t>
            </a:r>
            <a:r>
              <a:rPr sz="1275" b="0" i="0" u="none">
                <a:solidFill>
                  <a:srgbClr val="94A3B8"/>
                </a:solidFill>
                <a:latin typeface="Plus Jakarta Sans"/>
              </a:rPr>
              <a:t> Image classification, object detection, autonomous driving vision.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57962" y="3706713"/>
            <a:ext cx="4757737" cy="5018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76"/>
              </a:lnSpc>
            </a:pPr>
            <a:r>
              <a:rPr sz="1275" b="1" i="0" u="none">
                <a:solidFill>
                  <a:srgbClr val="94A3B8"/>
                </a:solidFill>
                <a:latin typeface="Plus Jakarta Sans"/>
              </a:rPr>
              <a:t>Natural Language Processing (Transformers):</a:t>
            </a:r>
            <a:r>
              <a:rPr sz="1275" b="0" i="0" u="none">
                <a:solidFill>
                  <a:srgbClr val="94A3B8"/>
                </a:solidFill>
                <a:latin typeface="Plus Jakarta Sans"/>
              </a:rPr>
              <a:t> Machine translation, sentiment analysis, text generation.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57962" y="4322861"/>
            <a:ext cx="4757737" cy="5018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76"/>
              </a:lnSpc>
            </a:pPr>
            <a:r>
              <a:rPr sz="1275" b="1" i="0" u="none">
                <a:solidFill>
                  <a:srgbClr val="94A3B8"/>
                </a:solidFill>
                <a:latin typeface="Plus Jakarta Sans"/>
              </a:rPr>
              <a:t>Speech Recognition:</a:t>
            </a:r>
            <a:r>
              <a:rPr sz="1275" b="0" i="0" u="none">
                <a:solidFill>
                  <a:srgbClr val="94A3B8"/>
                </a:solidFill>
                <a:latin typeface="Plus Jakarta Sans"/>
              </a:rPr>
              <a:t> Speech-to-text synthesis and acoustic modeling.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1025" y="485775"/>
            <a:ext cx="11581447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50" b="1" i="0" u="none">
                <a:solidFill>
                  <a:srgbClr val="38BDF8"/>
                </a:solidFill>
                <a:latin typeface="Space Grotesk"/>
              </a:rPr>
              <a:t>Deep Learning &amp; Neural Networks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81025" y="990600"/>
            <a:ext cx="11029950" cy="19050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93C497AC-C9CF-20AB-4A61-3B5416E84C9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82632" y="158548"/>
            <a:ext cx="1004253" cy="106119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733550" y="2612677"/>
            <a:ext cx="9124950" cy="2509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76"/>
              </a:lnSpc>
            </a:pPr>
            <a:r>
              <a:rPr sz="1275" b="1" i="0" u="none">
                <a:solidFill>
                  <a:srgbClr val="F8FAFC"/>
                </a:solidFill>
                <a:latin typeface="Plus Jakarta Sans"/>
              </a:rPr>
              <a:t>Artificial Intelligence (Outer Ring):</a:t>
            </a:r>
            <a:r>
              <a:rPr sz="1275" b="0" i="0" u="none">
                <a:solidFill>
                  <a:srgbClr val="CBD5E1"/>
                </a:solidFill>
                <a:latin typeface="Plus Jakarta Sans"/>
              </a:rPr>
              <a:t> The overarching discipline aiming to create smart, decision-making machines.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33550" y="3035051"/>
            <a:ext cx="9124950" cy="5018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76"/>
              </a:lnSpc>
            </a:pPr>
            <a:r>
              <a:rPr sz="1275" b="1" i="0" u="none">
                <a:solidFill>
                  <a:srgbClr val="F8FAFC"/>
                </a:solidFill>
                <a:latin typeface="Plus Jakarta Sans"/>
              </a:rPr>
              <a:t>Machine Learning (Subset of AI):</a:t>
            </a:r>
            <a:r>
              <a:rPr sz="1275" b="0" i="0" u="none">
                <a:solidFill>
                  <a:srgbClr val="CBD5E1"/>
                </a:solidFill>
                <a:latin typeface="Plus Jakarta Sans"/>
              </a:rPr>
              <a:t> Algorithms that automatically learn and improve from data experience without explicit programming rules.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33550" y="3708350"/>
            <a:ext cx="9124950" cy="5018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76"/>
              </a:lnSpc>
            </a:pPr>
            <a:r>
              <a:rPr sz="1275" b="1" i="0" u="none">
                <a:solidFill>
                  <a:srgbClr val="F8FAFC"/>
                </a:solidFill>
                <a:latin typeface="Plus Jakarta Sans"/>
              </a:rPr>
              <a:t>Deep Learning (Subset of ML):</a:t>
            </a:r>
            <a:r>
              <a:rPr sz="1275" b="0" i="0" u="none">
                <a:solidFill>
                  <a:srgbClr val="CBD5E1"/>
                </a:solidFill>
                <a:latin typeface="Plus Jakarta Sans"/>
              </a:rPr>
              <a:t> Deep multi-layer neural network architectures that process complex unstructured datasets (images, audio, video).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33550" y="4381648"/>
            <a:ext cx="9124950" cy="5018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76"/>
              </a:lnSpc>
            </a:pPr>
            <a:r>
              <a:rPr sz="1275" b="1" i="0" u="none">
                <a:solidFill>
                  <a:srgbClr val="F8FAFC"/>
                </a:solidFill>
                <a:latin typeface="Plus Jakarta Sans"/>
              </a:rPr>
              <a:t>Generative AI &amp; LLMs (Subset of DL):</a:t>
            </a:r>
            <a:r>
              <a:rPr sz="1275" b="0" i="0" u="none">
                <a:solidFill>
                  <a:srgbClr val="CBD5E1"/>
                </a:solidFill>
                <a:latin typeface="Plus Jakarta Sans"/>
              </a:rPr>
              <a:t> Advanced deep learning models (e.g., GPT-4, Llama 3) capable of generating novel text, code, audio, and synthetic images.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3500" y="2646015"/>
            <a:ext cx="219075" cy="20002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33500" y="3068389"/>
            <a:ext cx="190500" cy="20002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33500" y="3741687"/>
            <a:ext cx="238125" cy="20002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33500" y="4414986"/>
            <a:ext cx="219075" cy="20002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81025" y="485775"/>
            <a:ext cx="11581447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50" b="1" i="0" u="none">
                <a:solidFill>
                  <a:srgbClr val="38BDF8"/>
                </a:solidFill>
                <a:latin typeface="Space Grotesk"/>
              </a:rPr>
              <a:t>The AI Hierarchy &amp; Relationships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81025" y="990600"/>
            <a:ext cx="11029950" cy="19050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5D26AEEB-23ED-39FC-6667-F6CEDCE352C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982632" y="158548"/>
            <a:ext cx="1004253" cy="106119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0B243F-97A0-F90A-4B4B-26953F9CA3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>
            <a:extLst>
              <a:ext uri="{FF2B5EF4-FFF2-40B4-BE49-F238E27FC236}">
                <a16:creationId xmlns:a16="http://schemas.microsoft.com/office/drawing/2014/main" id="{988C0680-CF04-F2AA-A5C1-C779CAC653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C7A7232-D9BA-3BC0-4284-6A46846FE9FB}"/>
              </a:ext>
            </a:extLst>
          </p:cNvPr>
          <p:cNvSpPr txBox="1"/>
          <p:nvPr/>
        </p:nvSpPr>
        <p:spPr>
          <a:xfrm>
            <a:off x="581025" y="485775"/>
            <a:ext cx="11581447" cy="3924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50" b="1" i="0" u="none" dirty="0">
                <a:solidFill>
                  <a:srgbClr val="38BDF8"/>
                </a:solidFill>
                <a:latin typeface="Space Grotesk"/>
              </a:rPr>
              <a:t>D</a:t>
            </a:r>
            <a:r>
              <a:rPr lang="en-US" sz="2550" b="1" i="0" u="none" dirty="0">
                <a:solidFill>
                  <a:srgbClr val="38BDF8"/>
                </a:solidFill>
                <a:latin typeface="Space Grotesk"/>
              </a:rPr>
              <a:t>ata Science vs Artificial intelligence </a:t>
            </a:r>
            <a:endParaRPr sz="2550" b="1" i="0" u="none" dirty="0">
              <a:solidFill>
                <a:srgbClr val="38BDF8"/>
              </a:solidFill>
              <a:latin typeface="Space Grotesk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DC428FB-2AE3-B0AE-5C69-94B4BF291CDD}"/>
              </a:ext>
            </a:extLst>
          </p:cNvPr>
          <p:cNvSpPr/>
          <p:nvPr/>
        </p:nvSpPr>
        <p:spPr>
          <a:xfrm>
            <a:off x="581025" y="990600"/>
            <a:ext cx="11029950" cy="19050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 0">
            <a:extLst>
              <a:ext uri="{FF2B5EF4-FFF2-40B4-BE49-F238E27FC236}">
                <a16:creationId xmlns:a16="http://schemas.microsoft.com/office/drawing/2014/main" id="{5B96B0C9-731D-CB7B-4896-D06D4907B001}"/>
              </a:ext>
            </a:extLst>
          </p:cNvPr>
          <p:cNvSpPr/>
          <p:nvPr/>
        </p:nvSpPr>
        <p:spPr>
          <a:xfrm>
            <a:off x="1086055" y="1752763"/>
            <a:ext cx="8151763" cy="228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endParaRPr lang="en-US" sz="1400" dirty="0"/>
          </a:p>
        </p:txBody>
      </p:sp>
      <p:sp>
        <p:nvSpPr>
          <p:cNvPr id="13" name="Text 1">
            <a:extLst>
              <a:ext uri="{FF2B5EF4-FFF2-40B4-BE49-F238E27FC236}">
                <a16:creationId xmlns:a16="http://schemas.microsoft.com/office/drawing/2014/main" id="{6BCBCD58-D4AC-3144-E0E7-B490EE24854A}"/>
              </a:ext>
            </a:extLst>
          </p:cNvPr>
          <p:cNvSpPr/>
          <p:nvPr/>
        </p:nvSpPr>
        <p:spPr>
          <a:xfrm>
            <a:off x="6475921" y="1249739"/>
            <a:ext cx="3986733" cy="1142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38BDF8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How They Relate</a:t>
            </a:r>
            <a:endParaRPr lang="en-US" sz="1200" dirty="0">
              <a:solidFill>
                <a:srgbClr val="38BDF8"/>
              </a:solidFill>
            </a:endParaRPr>
          </a:p>
        </p:txBody>
      </p:sp>
      <p:sp>
        <p:nvSpPr>
          <p:cNvPr id="15" name="Text 2">
            <a:extLst>
              <a:ext uri="{FF2B5EF4-FFF2-40B4-BE49-F238E27FC236}">
                <a16:creationId xmlns:a16="http://schemas.microsoft.com/office/drawing/2014/main" id="{4B8AE604-6764-1C00-69FC-1AED403E4D90}"/>
              </a:ext>
            </a:extLst>
          </p:cNvPr>
          <p:cNvSpPr/>
          <p:nvPr/>
        </p:nvSpPr>
        <p:spPr>
          <a:xfrm>
            <a:off x="6475921" y="1608095"/>
            <a:ext cx="5305316" cy="32686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1000"/>
              </a:lnSpc>
              <a:spcAft>
                <a:spcPts val="250"/>
              </a:spcAft>
              <a:buNone/>
            </a:pPr>
            <a:r>
              <a:rPr lang="en-US" sz="2000" b="1" dirty="0">
                <a:solidFill>
                  <a:srgbClr val="E5DCE6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Data Science</a:t>
            </a:r>
            <a:r>
              <a:rPr lang="en-US" sz="200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prepares and analyzes data — uncovering patterns and trends hidden in raw information.</a:t>
            </a:r>
            <a:endParaRPr lang="en-US" sz="2000" dirty="0"/>
          </a:p>
          <a:p>
            <a:pPr marL="0" indent="0" algn="l">
              <a:lnSpc>
                <a:spcPct val="101000"/>
              </a:lnSpc>
              <a:buNone/>
            </a:pPr>
            <a:r>
              <a:rPr lang="en-US" sz="2000" b="1" dirty="0">
                <a:solidFill>
                  <a:srgbClr val="E5DCE6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Artificial Intelligence</a:t>
            </a:r>
            <a:r>
              <a:rPr lang="en-US" sz="200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uses that prepared data to learn, adapt, and make intelligent decisions autonomously.</a:t>
            </a:r>
            <a:endParaRPr lang="en-US" sz="2000" dirty="0"/>
          </a:p>
        </p:txBody>
      </p:sp>
      <p:sp>
        <p:nvSpPr>
          <p:cNvPr id="17" name="Shape 3">
            <a:extLst>
              <a:ext uri="{FF2B5EF4-FFF2-40B4-BE49-F238E27FC236}">
                <a16:creationId xmlns:a16="http://schemas.microsoft.com/office/drawing/2014/main" id="{3B4E52B7-085A-5963-78E3-1A004FB2A587}"/>
              </a:ext>
            </a:extLst>
          </p:cNvPr>
          <p:cNvSpPr/>
          <p:nvPr/>
        </p:nvSpPr>
        <p:spPr>
          <a:xfrm>
            <a:off x="6607113" y="5139380"/>
            <a:ext cx="4631158" cy="790129"/>
          </a:xfrm>
          <a:prstGeom prst="roundRect">
            <a:avLst>
              <a:gd name="adj" fmla="val 15499"/>
            </a:avLst>
          </a:prstGeom>
          <a:solidFill>
            <a:srgbClr val="002060"/>
          </a:solidFill>
          <a:ln/>
        </p:spPr>
        <p:txBody>
          <a:bodyPr/>
          <a:lstStyle/>
          <a:p>
            <a:endParaRPr lang="en-IN" dirty="0">
              <a:solidFill>
                <a:srgbClr val="38BDF8"/>
              </a:solidFill>
            </a:endParaRPr>
          </a:p>
        </p:txBody>
      </p:sp>
      <p:pic>
        <p:nvPicPr>
          <p:cNvPr id="19" name="Image 1" descr="preencoded.png">
            <a:extLst>
              <a:ext uri="{FF2B5EF4-FFF2-40B4-BE49-F238E27FC236}">
                <a16:creationId xmlns:a16="http://schemas.microsoft.com/office/drawing/2014/main" id="{EEB939B1-2347-4F22-D136-B6FAD972E3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7113" y="5120917"/>
            <a:ext cx="262385" cy="209995"/>
          </a:xfrm>
          <a:prstGeom prst="rect">
            <a:avLst/>
          </a:prstGeom>
        </p:spPr>
      </p:pic>
      <p:pic>
        <p:nvPicPr>
          <p:cNvPr id="21" name="Image 0" descr="preencoded.png">
            <a:extLst>
              <a:ext uri="{FF2B5EF4-FFF2-40B4-BE49-F238E27FC236}">
                <a16:creationId xmlns:a16="http://schemas.microsoft.com/office/drawing/2014/main" id="{19E7496D-4759-8C72-F7CF-D2376852041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4710" y="1128331"/>
            <a:ext cx="5305316" cy="5305316"/>
          </a:xfrm>
          <a:prstGeom prst="rect">
            <a:avLst/>
          </a:prstGeom>
          <a:ln>
            <a:solidFill>
              <a:srgbClr val="0070C0"/>
            </a:solidFill>
          </a:ln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BE780B51-D93E-2918-1AA3-07C0AA55D708}"/>
              </a:ext>
            </a:extLst>
          </p:cNvPr>
          <p:cNvSpPr txBox="1"/>
          <p:nvPr/>
        </p:nvSpPr>
        <p:spPr>
          <a:xfrm>
            <a:off x="6738305" y="5287089"/>
            <a:ext cx="6174658" cy="5199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101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Think of Data Science as the foundation and AI </a:t>
            </a:r>
          </a:p>
          <a:p>
            <a:pPr marL="0" indent="0" algn="l">
              <a:lnSpc>
                <a:spcPct val="101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as the intelligent structure built on top of it.</a:t>
            </a:r>
            <a:endParaRPr lang="en-US" sz="1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17447A7-F24A-793C-0EDB-CB352DF0A07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82632" y="158548"/>
            <a:ext cx="1004253" cy="10611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479668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81025" y="3081337"/>
            <a:ext cx="5348287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9000"/>
              </a:lnSpc>
            </a:pPr>
            <a:r>
              <a:rPr sz="9000" b="1" i="0" u="none">
                <a:solidFill>
                  <a:srgbClr val="38BDF8"/>
                </a:solidFill>
                <a:latin typeface="Space Grotesk"/>
              </a:rPr>
              <a:t>15.7T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1025" y="4319587"/>
            <a:ext cx="5348287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50" b="0" i="0" u="none">
                <a:solidFill>
                  <a:srgbClr val="F8FAFC"/>
                </a:solidFill>
                <a:latin typeface="Plus Jakarta Sans SemiBold"/>
              </a:rPr>
              <a:t>Estimated Global Economic Impact by 2030 ($)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62687" y="2785764"/>
            <a:ext cx="5615701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F1F5F9"/>
                </a:solidFill>
                <a:latin typeface="Space Grotesk"/>
              </a:rPr>
              <a:t>Massive Global Demand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62687" y="3147714"/>
            <a:ext cx="5348287" cy="7527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76"/>
              </a:lnSpc>
            </a:pPr>
            <a:r>
              <a:rPr sz="1275" b="0" i="0" u="none">
                <a:solidFill>
                  <a:srgbClr val="94A3B8"/>
                </a:solidFill>
                <a:latin typeface="Plus Jakarta Sans"/>
              </a:rPr>
              <a:t>According to PwC and Gartner research, AI and Data Science technologies are projected to contribute up to $15.7 trillion to the global economy by 2030.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62687" y="4014787"/>
            <a:ext cx="5348287" cy="7527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76"/>
              </a:lnSpc>
            </a:pPr>
            <a:r>
              <a:rPr sz="1275" b="0" i="0" u="none">
                <a:solidFill>
                  <a:srgbClr val="94A3B8"/>
                </a:solidFill>
                <a:latin typeface="Plus Jakarta Sans"/>
              </a:rPr>
              <a:t>Organizations prioritizing data-driven decision workflows report </a:t>
            </a:r>
            <a:r>
              <a:rPr sz="1275" b="1" i="0" u="none">
                <a:solidFill>
                  <a:srgbClr val="94A3B8"/>
                </a:solidFill>
                <a:latin typeface="Plus Jakarta Sans"/>
              </a:rPr>
              <a:t>5x faster decision-making cycles</a:t>
            </a:r>
            <a:r>
              <a:rPr sz="1275" b="0" i="0" u="none">
                <a:solidFill>
                  <a:srgbClr val="94A3B8"/>
                </a:solidFill>
                <a:latin typeface="Plus Jakarta Sans"/>
              </a:rPr>
              <a:t> and significant operational efficiency gains.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1025" y="485775"/>
            <a:ext cx="11581447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50" b="1" i="0" u="none">
                <a:solidFill>
                  <a:srgbClr val="38BDF8"/>
                </a:solidFill>
                <a:latin typeface="Space Grotesk"/>
              </a:rPr>
              <a:t>The Industry Impact of AI &amp; DS</a:t>
            </a:r>
          </a:p>
        </p:txBody>
      </p:sp>
      <p:sp>
        <p:nvSpPr>
          <p:cNvPr id="9" name="Rectangle 8"/>
          <p:cNvSpPr/>
          <p:nvPr/>
        </p:nvSpPr>
        <p:spPr>
          <a:xfrm>
            <a:off x="581025" y="990600"/>
            <a:ext cx="11029950" cy="19050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0493BCC-F0D8-5610-39E3-66BBBBED0E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82632" y="158548"/>
            <a:ext cx="1004253" cy="1061195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990611" y="3280916"/>
            <a:ext cx="6210776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3750" b="1" i="0" u="none">
                <a:solidFill>
                  <a:srgbClr val="F8FAFC"/>
                </a:solidFill>
                <a:latin typeface="Space Grotesk"/>
              </a:rPr>
              <a:t>Daily Practical Lab (1 Hour)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81337" y="4033391"/>
            <a:ext cx="6029325" cy="32474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557"/>
              </a:lnSpc>
            </a:pPr>
            <a:r>
              <a:rPr sz="1650" b="0" i="0" u="none">
                <a:solidFill>
                  <a:srgbClr val="38BDF8"/>
                </a:solidFill>
                <a:latin typeface="Plus Jakarta Sans"/>
              </a:rPr>
              <a:t>Environment Setup, Case Studies &amp; Collaborative Discussion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5F5611E-22C1-E50D-4091-23C01F0194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82632" y="158548"/>
            <a:ext cx="1004253" cy="1061195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2690663"/>
            <a:ext cx="3536900" cy="2286297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27475" y="2690663"/>
            <a:ext cx="3536900" cy="2286297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73925" y="2690663"/>
            <a:ext cx="3536900" cy="228629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19150" y="3509813"/>
            <a:ext cx="3213682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F1F5F9"/>
                </a:solidFill>
                <a:latin typeface="Space Grotesk"/>
              </a:rPr>
              <a:t>1. Workspace Setup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9150" y="3871763"/>
            <a:ext cx="3060650" cy="7527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76"/>
              </a:lnSpc>
            </a:pPr>
            <a:r>
              <a:rPr sz="1275" b="0" i="0" u="none">
                <a:solidFill>
                  <a:srgbClr val="94A3B8"/>
                </a:solidFill>
                <a:latin typeface="Plus Jakarta Sans"/>
              </a:rPr>
              <a:t>Launch Google Colab and set up local JupyterLab server environments with isolated Python kernels.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65600" y="3509813"/>
            <a:ext cx="3213682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F1F5F9"/>
                </a:solidFill>
                <a:latin typeface="Space Grotesk"/>
              </a:rPr>
              <a:t>2. Case Study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65600" y="3871763"/>
            <a:ext cx="3060650" cy="7527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76"/>
              </a:lnSpc>
            </a:pPr>
            <a:r>
              <a:rPr sz="1275" b="0" i="0" u="none">
                <a:solidFill>
                  <a:srgbClr val="94A3B8"/>
                </a:solidFill>
                <a:latin typeface="Plus Jakarta Sans"/>
              </a:rPr>
              <a:t>Analyze real-world industrial AI implementations in medical diagnostics and e-commerce engines.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12050" y="3509813"/>
            <a:ext cx="3213682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F1F5F9"/>
                </a:solidFill>
                <a:latin typeface="Space Grotesk"/>
              </a:rPr>
              <a:t>3. Group Discussion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12050" y="3871763"/>
            <a:ext cx="3060650" cy="7527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76"/>
              </a:lnSpc>
            </a:pPr>
            <a:r>
              <a:rPr sz="1275" b="0" i="0" u="none">
                <a:solidFill>
                  <a:srgbClr val="94A3B8"/>
                </a:solidFill>
                <a:latin typeface="Plus Jakarta Sans"/>
              </a:rPr>
              <a:t>Debate data ethics, bias, model hallucination, privacy compliance, and production deployment challenges.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9150" y="2985938"/>
            <a:ext cx="428625" cy="3429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65600" y="2985938"/>
            <a:ext cx="390525" cy="3429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12050" y="2985938"/>
            <a:ext cx="428625" cy="3429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81025" y="485775"/>
            <a:ext cx="11581447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50" b="1" i="0" u="none" dirty="0">
                <a:solidFill>
                  <a:srgbClr val="38BDF8"/>
                </a:solidFill>
                <a:latin typeface="Space Grotesk"/>
              </a:rPr>
              <a:t>Practical Lab Objectives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81025" y="990600"/>
            <a:ext cx="11029950" cy="19050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0FF05635-2C39-2AB2-94C5-3C47B1DC12E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982632" y="158548"/>
            <a:ext cx="1004253" cy="1061195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2687" y="2024062"/>
            <a:ext cx="5348287" cy="36195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81025" y="2024062"/>
            <a:ext cx="5615701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F1F5F9"/>
                </a:solidFill>
                <a:latin typeface="Space Grotesk"/>
              </a:rPr>
              <a:t>Interactive Notebook Paradigm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1025" y="2386012"/>
            <a:ext cx="5348287" cy="7527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76"/>
              </a:lnSpc>
            </a:pPr>
            <a:r>
              <a:rPr sz="1275" b="0" i="0" u="none" dirty="0">
                <a:solidFill>
                  <a:srgbClr val="94A3B8"/>
                </a:solidFill>
                <a:latin typeface="Plus Jakarta Sans"/>
              </a:rPr>
              <a:t>Computational notebooks combine live executable code cells, formatted Markdown text, mathematical equations, and inline data visualizations into a single reproducible artifact.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3254752"/>
            <a:ext cx="85725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75" b="0" i="0" u="none">
                <a:solidFill>
                  <a:srgbClr val="94A3B8"/>
                </a:solidFill>
                <a:latin typeface="Plus Jakarta Sans"/>
              </a:rPr>
              <a:t>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1525" y="3253085"/>
            <a:ext cx="5157787" cy="501848"/>
          </a:xfrm>
          <a:prstGeom prst="rect">
            <a:avLst/>
          </a:prstGeom>
          <a:noFill/>
        </p:spPr>
        <p:txBody>
          <a:bodyPr wrap="square" lIns="85725" tIns="0" rIns="0" bIns="0" anchor="t">
            <a:spAutoFit/>
          </a:bodyPr>
          <a:lstStyle/>
          <a:p>
            <a:pPr algn="l">
              <a:lnSpc>
                <a:spcPts val="1976"/>
              </a:lnSpc>
            </a:pPr>
            <a:r>
              <a:rPr sz="1275" b="1" i="0" u="none" dirty="0">
                <a:solidFill>
                  <a:srgbClr val="94A3B8"/>
                </a:solidFill>
                <a:latin typeface="Plus Jakarta Sans"/>
              </a:rPr>
              <a:t>Google </a:t>
            </a:r>
            <a:r>
              <a:rPr sz="1275" b="1" i="0" u="none" dirty="0" err="1">
                <a:solidFill>
                  <a:srgbClr val="94A3B8"/>
                </a:solidFill>
                <a:latin typeface="Plus Jakarta Sans"/>
              </a:rPr>
              <a:t>Colab</a:t>
            </a:r>
            <a:r>
              <a:rPr sz="1275" b="1" i="0" u="none" dirty="0">
                <a:solidFill>
                  <a:srgbClr val="94A3B8"/>
                </a:solidFill>
                <a:latin typeface="Plus Jakarta Sans"/>
              </a:rPr>
              <a:t>:</a:t>
            </a:r>
            <a:r>
              <a:rPr sz="1275" b="0" i="0" u="none" dirty="0">
                <a:solidFill>
                  <a:srgbClr val="94A3B8"/>
                </a:solidFill>
                <a:latin typeface="Plus Jakarta Sans"/>
              </a:rPr>
              <a:t> Zero-installation cloud notebook service provided by Google with free hardware accelerators (T4/A100 GPUs &amp; TPUs).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851850"/>
            <a:ext cx="85725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75" b="0" i="0" u="none">
                <a:solidFill>
                  <a:srgbClr val="94A3B8"/>
                </a:solidFill>
                <a:latin typeface="Plus Jakarta Sans"/>
              </a:rP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1525" y="3850183"/>
            <a:ext cx="5157787" cy="501848"/>
          </a:xfrm>
          <a:prstGeom prst="rect">
            <a:avLst/>
          </a:prstGeom>
          <a:noFill/>
        </p:spPr>
        <p:txBody>
          <a:bodyPr wrap="square" lIns="85725" tIns="0" rIns="0" bIns="0" anchor="t">
            <a:spAutoFit/>
          </a:bodyPr>
          <a:lstStyle/>
          <a:p>
            <a:pPr algn="l">
              <a:lnSpc>
                <a:spcPts val="1976"/>
              </a:lnSpc>
            </a:pPr>
            <a:r>
              <a:rPr sz="1275" b="1" i="0" u="none" dirty="0" err="1">
                <a:solidFill>
                  <a:srgbClr val="94A3B8"/>
                </a:solidFill>
                <a:latin typeface="Plus Jakarta Sans"/>
              </a:rPr>
              <a:t>JupyterLab</a:t>
            </a:r>
            <a:r>
              <a:rPr sz="1275" b="1" i="0" u="none" dirty="0">
                <a:solidFill>
                  <a:srgbClr val="94A3B8"/>
                </a:solidFill>
                <a:latin typeface="Plus Jakarta Sans"/>
              </a:rPr>
              <a:t>:</a:t>
            </a:r>
            <a:r>
              <a:rPr sz="1275" b="0" i="0" u="none" dirty="0">
                <a:solidFill>
                  <a:srgbClr val="94A3B8"/>
                </a:solidFill>
                <a:latin typeface="Plus Jakarta Sans"/>
              </a:rPr>
              <a:t> Web-based interactive development server for running code locally or on custom cloud server instances.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2033586"/>
            <a:ext cx="5505449" cy="371949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81025" y="485775"/>
            <a:ext cx="11581447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50" b="1" i="0" u="none">
                <a:solidFill>
                  <a:srgbClr val="38BDF8"/>
                </a:solidFill>
                <a:latin typeface="Space Grotesk"/>
              </a:rPr>
              <a:t>Jupyter vs. Google Colab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81025" y="990600"/>
            <a:ext cx="11029950" cy="19050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DA9A75DB-A5C4-C1FC-FA30-DF7458E6F6C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82632" y="158548"/>
            <a:ext cx="1004253" cy="1061195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733550" y="2731591"/>
            <a:ext cx="9124950" cy="2541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76"/>
              </a:lnSpc>
            </a:pPr>
            <a:r>
              <a:rPr sz="1275" b="1" i="0" u="none">
                <a:solidFill>
                  <a:srgbClr val="F8FAFC"/>
                </a:solidFill>
                <a:latin typeface="Plus Jakarta Sans"/>
              </a:rPr>
              <a:t>Access Colab Platform:</a:t>
            </a:r>
            <a:r>
              <a:rPr sz="1275" b="0" i="0" u="none">
                <a:solidFill>
                  <a:srgbClr val="CBD5E1"/>
                </a:solidFill>
                <a:latin typeface="Plus Jakarta Sans"/>
              </a:rPr>
              <a:t> Navigate to colab.research.google.com and authenticate with your Google credentials.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33550" y="3157239"/>
            <a:ext cx="9124950" cy="2541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76"/>
              </a:lnSpc>
            </a:pPr>
            <a:r>
              <a:rPr sz="1275" b="1" i="0" u="none">
                <a:solidFill>
                  <a:srgbClr val="F8FAFC"/>
                </a:solidFill>
                <a:latin typeface="Plus Jakarta Sans"/>
              </a:rPr>
              <a:t>Create Notebook:</a:t>
            </a:r>
            <a:r>
              <a:rPr sz="1275" b="0" i="0" u="none">
                <a:solidFill>
                  <a:srgbClr val="CBD5E1"/>
                </a:solidFill>
                <a:latin typeface="Plus Jakarta Sans"/>
              </a:rPr>
              <a:t> Click </a:t>
            </a:r>
            <a:r>
              <a:rPr sz="1275" b="0" i="1" u="none">
                <a:solidFill>
                  <a:srgbClr val="CBD5E1"/>
                </a:solidFill>
                <a:latin typeface="Plus Jakarta Sans"/>
              </a:rPr>
              <a:t>"New Notebook"</a:t>
            </a:r>
            <a:r>
              <a:rPr sz="1275" b="0" i="0" u="none">
                <a:solidFill>
                  <a:srgbClr val="CBD5E1"/>
                </a:solidFill>
                <a:latin typeface="Plus Jakarta Sans"/>
              </a:rPr>
              <a:t> to initialize an interactive .ipynb cloud environment.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33550" y="3582888"/>
            <a:ext cx="9124950" cy="5051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76"/>
              </a:lnSpc>
            </a:pPr>
            <a:r>
              <a:rPr sz="1275" b="1" i="0" u="none">
                <a:solidFill>
                  <a:srgbClr val="F8FAFC"/>
                </a:solidFill>
                <a:latin typeface="Plus Jakarta Sans"/>
              </a:rPr>
              <a:t>Enable Hardware Accelerator:</a:t>
            </a:r>
            <a:r>
              <a:rPr sz="1275" b="0" i="0" u="none">
                <a:solidFill>
                  <a:srgbClr val="CBD5E1"/>
                </a:solidFill>
                <a:latin typeface="Plus Jakarta Sans"/>
              </a:rPr>
              <a:t> Select Runtime &gt; Change runtime type and select </a:t>
            </a:r>
            <a:r>
              <a:rPr sz="1275" b="1" i="0" u="none">
                <a:solidFill>
                  <a:srgbClr val="F8FAFC"/>
                </a:solidFill>
                <a:latin typeface="Plus Jakarta Sans"/>
              </a:rPr>
              <a:t>T4 GPU</a:t>
            </a:r>
            <a:r>
              <a:rPr sz="1275" b="0" i="0" u="none">
                <a:solidFill>
                  <a:srgbClr val="CBD5E1"/>
                </a:solidFill>
                <a:latin typeface="Plus Jakarta Sans"/>
              </a:rPr>
              <a:t> for accelerated neural net training.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33550" y="4259460"/>
            <a:ext cx="9124950" cy="5051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76"/>
              </a:lnSpc>
            </a:pPr>
            <a:r>
              <a:rPr sz="1275" b="1" i="0" u="none">
                <a:solidFill>
                  <a:srgbClr val="F8FAFC"/>
                </a:solidFill>
                <a:latin typeface="Plus Jakarta Sans"/>
              </a:rPr>
              <a:t>Mount Persistent Storage:</a:t>
            </a:r>
            <a:r>
              <a:rPr sz="1275" b="0" i="0" u="none">
                <a:solidFill>
                  <a:srgbClr val="CBD5E1"/>
                </a:solidFill>
                <a:latin typeface="Plus Jakarta Sans"/>
              </a:rPr>
              <a:t> Run from google.colab import drive; drive.mount('/content/drive') to connect your Google Drive datasets.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3500" y="2764928"/>
            <a:ext cx="95250" cy="20002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33500" y="3190577"/>
            <a:ext cx="123825" cy="20002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33500" y="3616225"/>
            <a:ext cx="123825" cy="20002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33500" y="4292798"/>
            <a:ext cx="142875" cy="20002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81025" y="485775"/>
            <a:ext cx="11581447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50" b="1" i="0" u="none">
                <a:solidFill>
                  <a:srgbClr val="38BDF8"/>
                </a:solidFill>
                <a:latin typeface="Space Grotesk"/>
              </a:rPr>
              <a:t>Step-by-Step: Google Colab Setup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81025" y="990600"/>
            <a:ext cx="11029950" cy="19050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F2884F8A-CDE7-6714-6F89-BD2E0731D45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982632" y="158548"/>
            <a:ext cx="1004253" cy="1061195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2426791"/>
            <a:ext cx="5348287" cy="2814042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2687" y="2426791"/>
            <a:ext cx="5348287" cy="281404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76300" y="2722066"/>
            <a:ext cx="4995624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38BDF8"/>
                </a:solidFill>
                <a:latin typeface="Space Grotesk"/>
              </a:rPr>
              <a:t>Conda Environment Management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6300" y="3084016"/>
            <a:ext cx="4757737" cy="5018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76"/>
              </a:lnSpc>
            </a:pPr>
            <a:r>
              <a:rPr sz="1275" b="0" i="0" u="none">
                <a:solidFill>
                  <a:srgbClr val="94A3B8"/>
                </a:solidFill>
                <a:latin typeface="Plus Jakarta Sans"/>
              </a:rPr>
              <a:t>Creating isolated virtual environments prevents library version conflicts across different data science projects.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6300" y="3700164"/>
            <a:ext cx="4757737" cy="2541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76"/>
              </a:lnSpc>
            </a:pPr>
            <a:r>
              <a:rPr sz="1275" b="0" i="0" u="none">
                <a:solidFill>
                  <a:srgbClr val="94A3B8"/>
                </a:solidFill>
                <a:latin typeface="Plus Jakarta Sans"/>
              </a:rPr>
              <a:t>conda create -n ai_env python=3.10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6300" y="4068663"/>
            <a:ext cx="4757737" cy="2541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76"/>
              </a:lnSpc>
            </a:pPr>
            <a:r>
              <a:rPr sz="1275" b="0" i="0" u="none">
                <a:solidFill>
                  <a:srgbClr val="94A3B8"/>
                </a:solidFill>
                <a:latin typeface="Plus Jakarta Sans"/>
              </a:rPr>
              <a:t>conda activate ai_env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6300" y="4437161"/>
            <a:ext cx="4757737" cy="2541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76"/>
              </a:lnSpc>
            </a:pPr>
            <a:r>
              <a:rPr sz="1275" b="0" i="0" u="none">
                <a:solidFill>
                  <a:srgbClr val="94A3B8"/>
                </a:solidFill>
                <a:latin typeface="Plus Jakarta Sans"/>
              </a:rPr>
              <a:t>pip install jupyterlab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57962" y="2722066"/>
            <a:ext cx="4995624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38BDF8"/>
                </a:solidFill>
                <a:latin typeface="Space Grotesk"/>
              </a:rPr>
              <a:t>Installing Core Scientific Packages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57962" y="3084016"/>
            <a:ext cx="4757737" cy="5018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76"/>
              </a:lnSpc>
            </a:pPr>
            <a:r>
              <a:rPr sz="1275" b="0" i="0" u="none">
                <a:solidFill>
                  <a:srgbClr val="94A3B8"/>
                </a:solidFill>
                <a:latin typeface="Plus Jakarta Sans"/>
              </a:rPr>
              <a:t>Execute package installation commands inside your terminal or Anaconda prompt to set up the default library suite: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57962" y="3700164"/>
            <a:ext cx="4757737" cy="5083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76"/>
              </a:lnSpc>
            </a:pPr>
            <a:r>
              <a:rPr sz="1275" b="0" i="0" u="none">
                <a:solidFill>
                  <a:srgbClr val="94A3B8"/>
                </a:solidFill>
                <a:latin typeface="Plus Jakarta Sans"/>
              </a:rPr>
              <a:t>pip install numpy pandas matplotlib seaborn scikit-learn torch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57962" y="4322861"/>
            <a:ext cx="4757737" cy="5083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76"/>
              </a:lnSpc>
            </a:pPr>
            <a:r>
              <a:rPr sz="1275" b="0" i="0" u="none">
                <a:solidFill>
                  <a:srgbClr val="94A3B8"/>
                </a:solidFill>
                <a:latin typeface="Plus Jakarta Sans"/>
              </a:rPr>
              <a:t>Verify installation via: import pandas as pd; print(pd.__version__)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1025" y="485775"/>
            <a:ext cx="11581447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50" b="1" i="0" u="none">
                <a:solidFill>
                  <a:srgbClr val="38BDF8"/>
                </a:solidFill>
                <a:latin typeface="Space Grotesk"/>
              </a:rPr>
              <a:t>Local Setup: Virtual Environments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81025" y="990600"/>
            <a:ext cx="11029950" cy="19050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7EAA5E5A-571C-7893-A8A1-723B6B07999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82632" y="158548"/>
            <a:ext cx="1004253" cy="1061195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2257127"/>
            <a:ext cx="3536900" cy="315337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27475" y="2257127"/>
            <a:ext cx="3536900" cy="315337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73925" y="2257127"/>
            <a:ext cx="3536900" cy="315337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19150" y="3076277"/>
            <a:ext cx="3213682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F1F5F9"/>
                </a:solidFill>
                <a:latin typeface="Space Grotesk"/>
              </a:rPr>
              <a:t>NumPy &amp; Pandas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9150" y="3438227"/>
            <a:ext cx="3060650" cy="7527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76"/>
              </a:lnSpc>
            </a:pPr>
            <a:r>
              <a:rPr sz="1275" b="1" i="0" u="none">
                <a:solidFill>
                  <a:srgbClr val="94A3B8"/>
                </a:solidFill>
                <a:latin typeface="Plus Jakarta Sans"/>
              </a:rPr>
              <a:t>NumPy:</a:t>
            </a:r>
            <a:r>
              <a:rPr sz="1275" b="0" i="0" u="none">
                <a:solidFill>
                  <a:srgbClr val="94A3B8"/>
                </a:solidFill>
                <a:latin typeface="Plus Jakarta Sans"/>
              </a:rPr>
              <a:t> High-performance multi-dimensional array operations and linear algebra operations.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9150" y="4305300"/>
            <a:ext cx="3060650" cy="7527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76"/>
              </a:lnSpc>
            </a:pPr>
            <a:r>
              <a:rPr sz="1275" b="1" i="0" u="none">
                <a:solidFill>
                  <a:srgbClr val="94A3B8"/>
                </a:solidFill>
                <a:latin typeface="Plus Jakarta Sans"/>
              </a:rPr>
              <a:t>Pandas:</a:t>
            </a:r>
            <a:r>
              <a:rPr sz="1275" b="0" i="0" u="none">
                <a:solidFill>
                  <a:srgbClr val="94A3B8"/>
                </a:solidFill>
                <a:latin typeface="Plus Jakarta Sans"/>
              </a:rPr>
              <a:t> DataFrames for tabular data cleaning, merging, filtering, and aggregation.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65600" y="3076277"/>
            <a:ext cx="3213682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F1F5F9"/>
                </a:solidFill>
                <a:latin typeface="Space Grotesk"/>
              </a:rPr>
              <a:t>Matplotlib &amp; Seaborn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65600" y="3438227"/>
            <a:ext cx="3060650" cy="5018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76"/>
              </a:lnSpc>
            </a:pPr>
            <a:r>
              <a:rPr sz="1275" b="1" i="0" u="none">
                <a:solidFill>
                  <a:srgbClr val="94A3B8"/>
                </a:solidFill>
                <a:latin typeface="Plus Jakarta Sans"/>
              </a:rPr>
              <a:t>Matplotlib:</a:t>
            </a:r>
            <a:r>
              <a:rPr sz="1275" b="0" i="0" u="none">
                <a:solidFill>
                  <a:srgbClr val="94A3B8"/>
                </a:solidFill>
                <a:latin typeface="Plus Jakarta Sans"/>
              </a:rPr>
              <a:t> Low-level flexible plotting engine for static and custom charts.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65600" y="4054375"/>
            <a:ext cx="3060650" cy="7527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76"/>
              </a:lnSpc>
            </a:pPr>
            <a:r>
              <a:rPr sz="1275" b="1" i="0" u="none">
                <a:solidFill>
                  <a:srgbClr val="94A3B8"/>
                </a:solidFill>
                <a:latin typeface="Plus Jakarta Sans"/>
              </a:rPr>
              <a:t>Seaborn:</a:t>
            </a:r>
            <a:r>
              <a:rPr sz="1275" b="0" i="0" u="none">
                <a:solidFill>
                  <a:srgbClr val="94A3B8"/>
                </a:solidFill>
                <a:latin typeface="Plus Jakarta Sans"/>
              </a:rPr>
              <a:t> High-level statistical data visualization library built on top of Matplotlib.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12050" y="3076277"/>
            <a:ext cx="3213682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F1F5F9"/>
                </a:solidFill>
                <a:latin typeface="Space Grotesk"/>
              </a:rPr>
              <a:t>Scikit-Learn &amp; PyTorch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12050" y="3438227"/>
            <a:ext cx="3060650" cy="7527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76"/>
              </a:lnSpc>
            </a:pPr>
            <a:r>
              <a:rPr sz="1275" b="1" i="0" u="none">
                <a:solidFill>
                  <a:srgbClr val="94A3B8"/>
                </a:solidFill>
                <a:latin typeface="Plus Jakarta Sans"/>
              </a:rPr>
              <a:t>Scikit-Learn:</a:t>
            </a:r>
            <a:r>
              <a:rPr sz="1275" b="0" i="0" u="none">
                <a:solidFill>
                  <a:srgbClr val="94A3B8"/>
                </a:solidFill>
                <a:latin typeface="Plus Jakarta Sans"/>
              </a:rPr>
              <a:t> Industrial standard for classical ML algorithms, preprocessing pipelines, and evaluation.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12050" y="4305300"/>
            <a:ext cx="3060650" cy="5018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76"/>
              </a:lnSpc>
            </a:pPr>
            <a:r>
              <a:rPr sz="1275" b="1" i="0" u="none">
                <a:solidFill>
                  <a:srgbClr val="94A3B8"/>
                </a:solidFill>
                <a:latin typeface="Plus Jakarta Sans"/>
              </a:rPr>
              <a:t>PyTorch / TF:</a:t>
            </a:r>
            <a:r>
              <a:rPr sz="1275" b="0" i="0" u="none">
                <a:solidFill>
                  <a:srgbClr val="94A3B8"/>
                </a:solidFill>
                <a:latin typeface="Plus Jakarta Sans"/>
              </a:rPr>
              <a:t> Deep learning computational graph frameworks.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9150" y="2552402"/>
            <a:ext cx="257175" cy="3429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65600" y="2552402"/>
            <a:ext cx="390525" cy="3429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12050" y="2552402"/>
            <a:ext cx="428625" cy="3429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81025" y="485775"/>
            <a:ext cx="11581447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50" b="1" i="0" u="none">
                <a:solidFill>
                  <a:srgbClr val="38BDF8"/>
                </a:solidFill>
                <a:latin typeface="Space Grotesk"/>
              </a:rPr>
              <a:t>The Scientific Python Stack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81025" y="990600"/>
            <a:ext cx="11029950" cy="19050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3D70321E-83AB-95BB-3FE8-2C7C3353DE3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982632" y="158548"/>
            <a:ext cx="1004253" cy="1061195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2687" y="2024062"/>
            <a:ext cx="5348287" cy="36195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81025" y="2024062"/>
            <a:ext cx="5615701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F1F5F9"/>
                </a:solidFill>
                <a:latin typeface="Space Grotesk"/>
              </a:rPr>
              <a:t>Radiology Image Classification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1025" y="2386012"/>
            <a:ext cx="5348287" cy="5018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76"/>
              </a:lnSpc>
            </a:pPr>
            <a:r>
              <a:rPr sz="1275" b="1" i="0" u="none">
                <a:solidFill>
                  <a:srgbClr val="94A3B8"/>
                </a:solidFill>
                <a:latin typeface="Plus Jakarta Sans"/>
              </a:rPr>
              <a:t>Problem Statement:</a:t>
            </a:r>
            <a:r>
              <a:rPr sz="1275" b="0" i="0" u="none">
                <a:solidFill>
                  <a:srgbClr val="94A3B8"/>
                </a:solidFill>
                <a:latin typeface="Plus Jakarta Sans"/>
              </a:rPr>
              <a:t> Early detection of diabetic retinopathy and lung nodules from CT/MRI medical scans.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1025" y="3002160"/>
            <a:ext cx="5348287" cy="5018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76"/>
              </a:lnSpc>
            </a:pPr>
            <a:r>
              <a:rPr sz="1275" b="1" i="0" u="none">
                <a:solidFill>
                  <a:srgbClr val="94A3B8"/>
                </a:solidFill>
                <a:latin typeface="Plus Jakarta Sans"/>
              </a:rPr>
              <a:t>AI Solution:</a:t>
            </a:r>
            <a:r>
              <a:rPr sz="1275" b="0" i="0" u="none">
                <a:solidFill>
                  <a:srgbClr val="94A3B8"/>
                </a:solidFill>
                <a:latin typeface="Plus Jakarta Sans"/>
              </a:rPr>
              <a:t> Deep Convolutional Neural Networks (ResNet/DenseNet) trained on thousands of annotated radiological scans.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1025" y="3618309"/>
            <a:ext cx="5348287" cy="5018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76"/>
              </a:lnSpc>
            </a:pPr>
            <a:r>
              <a:rPr sz="1275" b="1" i="0" u="none">
                <a:solidFill>
                  <a:srgbClr val="94A3B8"/>
                </a:solidFill>
                <a:latin typeface="Plus Jakarta Sans"/>
              </a:rPr>
              <a:t>Impact &amp; Value:</a:t>
            </a:r>
            <a:r>
              <a:rPr sz="1275" b="0" i="0" u="none">
                <a:solidFill>
                  <a:srgbClr val="94A3B8"/>
                </a:solidFill>
                <a:latin typeface="Plus Jakarta Sans"/>
              </a:rPr>
              <a:t> Reaches 94%+ diagnostic accuracy, reducing clinician triage processing time from days to seconds.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72212" y="2033587"/>
            <a:ext cx="5329237" cy="36004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81025" y="485775"/>
            <a:ext cx="11581447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50" b="1" i="0" u="none">
                <a:solidFill>
                  <a:srgbClr val="38BDF8"/>
                </a:solidFill>
                <a:latin typeface="Space Grotesk"/>
              </a:rPr>
              <a:t>Case Study 1: AI Diagnostics in Healthcare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81025" y="990600"/>
            <a:ext cx="11029950" cy="19050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AD6904F-3721-73C1-1CF9-C9811E46584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82632" y="158548"/>
            <a:ext cx="1004253" cy="1061195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2490489"/>
            <a:ext cx="5348287" cy="268664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2687" y="2490489"/>
            <a:ext cx="5348287" cy="268664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76300" y="2785764"/>
            <a:ext cx="4995624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38BDF8"/>
                </a:solidFill>
                <a:latin typeface="Space Grotesk"/>
              </a:rPr>
              <a:t>Personalization Engine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6300" y="3147714"/>
            <a:ext cx="4757737" cy="7527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76"/>
              </a:lnSpc>
            </a:pPr>
            <a:r>
              <a:rPr sz="1275" b="1" i="0" u="none">
                <a:solidFill>
                  <a:srgbClr val="94A3B8"/>
                </a:solidFill>
                <a:latin typeface="Plus Jakarta Sans"/>
              </a:rPr>
              <a:t>Collaborative Filtering:</a:t>
            </a:r>
            <a:r>
              <a:rPr sz="1275" b="0" i="0" u="none">
                <a:solidFill>
                  <a:srgbClr val="94A3B8"/>
                </a:solidFill>
                <a:latin typeface="Plus Jakarta Sans"/>
              </a:rPr>
              <a:t> Recommends items by finding similarity vectors between user browsing behaviors ("Users who bought X also bought Y").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6300" y="4014787"/>
            <a:ext cx="4757737" cy="7527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76"/>
              </a:lnSpc>
            </a:pPr>
            <a:r>
              <a:rPr sz="1275" b="1" i="0" u="none">
                <a:solidFill>
                  <a:srgbClr val="94A3B8"/>
                </a:solidFill>
                <a:latin typeface="Plus Jakarta Sans"/>
              </a:rPr>
              <a:t>Content-Based Filtering:</a:t>
            </a:r>
            <a:r>
              <a:rPr sz="1275" b="0" i="0" u="none">
                <a:solidFill>
                  <a:srgbClr val="94A3B8"/>
                </a:solidFill>
                <a:latin typeface="Plus Jakarta Sans"/>
              </a:rPr>
              <a:t> Matches item metadata attributes (genre, price point, category) directly to user preference profiles.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57962" y="2785764"/>
            <a:ext cx="4995624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38BDF8"/>
                </a:solidFill>
                <a:latin typeface="Space Grotesk"/>
              </a:rPr>
              <a:t>Business Metric Impact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57962" y="3147714"/>
            <a:ext cx="4757737" cy="7527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76"/>
              </a:lnSpc>
            </a:pPr>
            <a:r>
              <a:rPr sz="1275" b="1" i="0" u="none">
                <a:solidFill>
                  <a:srgbClr val="94A3B8"/>
                </a:solidFill>
                <a:latin typeface="Plus Jakarta Sans"/>
              </a:rPr>
              <a:t>Real-World Impact:</a:t>
            </a:r>
            <a:r>
              <a:rPr sz="1275" b="0" i="0" u="none">
                <a:solidFill>
                  <a:srgbClr val="94A3B8"/>
                </a:solidFill>
                <a:latin typeface="Plus Jakarta Sans"/>
              </a:rPr>
              <a:t> Up to 35% of Amazon sales revenue and over 80% of Netflix watch hours are driven directly by automated recommendation algorithms.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57962" y="4014787"/>
            <a:ext cx="4757737" cy="5018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76"/>
              </a:lnSpc>
            </a:pPr>
            <a:r>
              <a:rPr sz="1275" b="0" i="0" u="none">
                <a:solidFill>
                  <a:srgbClr val="94A3B8"/>
                </a:solidFill>
                <a:latin typeface="Plus Jakarta Sans"/>
              </a:rPr>
              <a:t>Dramatically improves user retention rates and customer lifetime value (LTV).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1025" y="485775"/>
            <a:ext cx="11581447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50" b="1" i="0" u="none">
                <a:solidFill>
                  <a:srgbClr val="38BDF8"/>
                </a:solidFill>
                <a:latin typeface="Space Grotesk"/>
              </a:rPr>
              <a:t>Case Study 2: Recommendation Systems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81025" y="990600"/>
            <a:ext cx="11029950" cy="19050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9C180959-6CAE-FAC8-C900-3776419306E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82632" y="158548"/>
            <a:ext cx="1004253" cy="1061195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733550" y="2487215"/>
            <a:ext cx="9124950" cy="5018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76"/>
              </a:lnSpc>
            </a:pPr>
            <a:r>
              <a:rPr sz="1275" b="1" i="0" u="none">
                <a:solidFill>
                  <a:srgbClr val="F8FAFC"/>
                </a:solidFill>
                <a:latin typeface="Plus Jakarta Sans"/>
              </a:rPr>
              <a:t>Algorithmic Bias &amp; Fairness:</a:t>
            </a:r>
            <a:r>
              <a:rPr sz="1275" b="0" i="0" u="none">
                <a:solidFill>
                  <a:srgbClr val="CBD5E1"/>
                </a:solidFill>
                <a:latin typeface="Plus Jakarta Sans"/>
              </a:rPr>
              <a:t> How do historical training datasets introduce gender, racial, or socioeconomic bias into automated hiring and loan approval models?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33550" y="3160514"/>
            <a:ext cx="9124950" cy="5018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76"/>
              </a:lnSpc>
            </a:pPr>
            <a:r>
              <a:rPr sz="1275" b="1" i="0" u="none">
                <a:solidFill>
                  <a:srgbClr val="F8FAFC"/>
                </a:solidFill>
                <a:latin typeface="Plus Jakarta Sans"/>
              </a:rPr>
              <a:t>Data Privacy &amp; GDPR:</a:t>
            </a:r>
            <a:r>
              <a:rPr sz="1275" b="0" i="0" u="none">
                <a:solidFill>
                  <a:srgbClr val="CBD5E1"/>
                </a:solidFill>
                <a:latin typeface="Plus Jakarta Sans"/>
              </a:rPr>
              <a:t> What are the ethical implications of scraping user web data without explicit consent for AI model training?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33550" y="3833812"/>
            <a:ext cx="9124950" cy="5018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76"/>
              </a:lnSpc>
            </a:pPr>
            <a:r>
              <a:rPr sz="1275" b="1" i="0" u="none">
                <a:solidFill>
                  <a:srgbClr val="F8FAFC"/>
                </a:solidFill>
                <a:latin typeface="Plus Jakarta Sans"/>
              </a:rPr>
              <a:t>Model Explainability (XAI):</a:t>
            </a:r>
            <a:r>
              <a:rPr sz="1275" b="0" i="0" u="none">
                <a:solidFill>
                  <a:srgbClr val="CBD5E1"/>
                </a:solidFill>
                <a:latin typeface="Plus Jakarta Sans"/>
              </a:rPr>
              <a:t> In high-stakes fields like healthcare and justice, when should black-box Deep Learning models be replaced with interpretable models?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33550" y="4507110"/>
            <a:ext cx="9124950" cy="5018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76"/>
              </a:lnSpc>
            </a:pPr>
            <a:r>
              <a:rPr sz="1275" b="1" i="0" u="none">
                <a:solidFill>
                  <a:srgbClr val="F8FAFC"/>
                </a:solidFill>
                <a:latin typeface="Plus Jakarta Sans"/>
              </a:rPr>
              <a:t>AI Safety &amp; Hallucination:</a:t>
            </a:r>
            <a:r>
              <a:rPr sz="1275" b="0" i="0" u="none">
                <a:solidFill>
                  <a:srgbClr val="CBD5E1"/>
                </a:solidFill>
                <a:latin typeface="Plus Jakarta Sans"/>
              </a:rPr>
              <a:t> How can engineering teams validate Generative AI outputs when models confidently present false information as fact?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3500" y="2520553"/>
            <a:ext cx="238125" cy="20002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33500" y="3193851"/>
            <a:ext cx="171450" cy="20002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33500" y="3867150"/>
            <a:ext cx="219075" cy="20002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33500" y="4540448"/>
            <a:ext cx="190500" cy="20002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81025" y="485775"/>
            <a:ext cx="11581447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50" b="1" i="0" u="none">
                <a:solidFill>
                  <a:srgbClr val="38BDF8"/>
                </a:solidFill>
                <a:latin typeface="Space Grotesk"/>
              </a:rPr>
              <a:t>Group Discussion &amp; Ethical AI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81025" y="990600"/>
            <a:ext cx="11029950" cy="19050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33839BC0-9BB2-E13D-4C49-CD41C53A045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982632" y="158548"/>
            <a:ext cx="1004253" cy="106119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57</TotalTime>
  <Words>1862</Words>
  <Application>Microsoft Office PowerPoint</Application>
  <PresentationFormat>Widescreen</PresentationFormat>
  <Paragraphs>225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4" baseType="lpstr">
      <vt:lpstr>Arial</vt:lpstr>
      <vt:lpstr>Bricolage Grotesque ExtraBold</vt:lpstr>
      <vt:lpstr>Calibri</vt:lpstr>
      <vt:lpstr>Montserrat</vt:lpstr>
      <vt:lpstr>Montserrat Bold</vt:lpstr>
      <vt:lpstr>Plus Jakarta Sans</vt:lpstr>
      <vt:lpstr>Plus Jakarta Sans SemiBold</vt:lpstr>
      <vt:lpstr>Space Grotesk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pravin kumar</cp:lastModifiedBy>
  <cp:revision>12</cp:revision>
  <dcterms:created xsi:type="dcterms:W3CDTF">2013-01-27T09:14:16Z</dcterms:created>
  <dcterms:modified xsi:type="dcterms:W3CDTF">2026-08-05T09:27:01Z</dcterms:modified>
  <cp:category/>
</cp:coreProperties>
</file>