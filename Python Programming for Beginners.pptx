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7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5600" y="3097113"/>
            <a:ext cx="6400800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>
                <a:solidFill>
                  <a:srgbClr val="F8FAFC"/>
                </a:solidFill>
                <a:latin typeface="Poppins"/>
              </a:rPr>
              <a:t>Python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8962" y="3884711"/>
            <a:ext cx="59340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Syntax, Variables, Conditionals, Loops, and List Comprehensions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60858" y="2533650"/>
            <a:ext cx="2270283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oppins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52962" y="3429000"/>
            <a:ext cx="28860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Syntax, Variables, &amp; Data Types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95487"/>
            <a:ext cx="53435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66737"/>
            <a:ext cx="28575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995487"/>
            <a:ext cx="5343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Python is a high-level, interpreted programming language renowned for its simplicity and readability.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566987"/>
            <a:ext cx="51149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Readable Syntax: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Emphasizes plain English keywords.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909887"/>
            <a:ext cx="51149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Inter"/>
              </a:rPr>
              <a:t>Interpreted:</a:t>
            </a:r>
            <a:r>
              <a:rPr sz="1200" b="0" i="0" u="none" dirty="0">
                <a:solidFill>
                  <a:srgbClr val="CBD5E1"/>
                </a:solidFill>
                <a:latin typeface="Inter"/>
              </a:rPr>
              <a:t> Code is executed line by line in real-time.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252787"/>
            <a:ext cx="51149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Dynamically Typed: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No need to explicitly declare variable types.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595687"/>
            <a:ext cx="51149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Multi-Purpose: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Used in Web, AI, Data Science, and Automation.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2005012"/>
            <a:ext cx="5324475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125" y="2547937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2890837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" y="3233737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3576637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485775"/>
            <a:ext cx="1116139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 What is Python?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62250"/>
            <a:ext cx="5343525" cy="2085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762250"/>
            <a:ext cx="5343525" cy="2085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048125"/>
            <a:ext cx="4791075" cy="466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4048125"/>
            <a:ext cx="4791075" cy="523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66737"/>
            <a:ext cx="409575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038475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Poppins SemiBold"/>
              </a:rPr>
              <a:t>Indentation Defines 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467100"/>
            <a:ext cx="47910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Unlike languages using curly braces {}, Python relies on whitespace indentation to define code structure and scope.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038475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Poppins SemiBold"/>
              </a:rPr>
              <a:t>Clean &amp; Readable Syntax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3467100"/>
            <a:ext cx="47910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Python avoids unnecessary semicolons ; at line ends, keeping scripts clean, succinct, and easy to maintain.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219575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3074" y="4219575"/>
            <a:ext cx="512445" cy="19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0274" y="4219575"/>
            <a:ext cx="1688974" cy="19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4ADE80"/>
                </a:solidFill>
                <a:latin typeface="Fira Code"/>
              </a:rPr>
              <a:t>"Indented 4 spaces"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700" y="4219575"/>
            <a:ext cx="1905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>
                <a:solidFill>
                  <a:srgbClr val="64748B"/>
                </a:solidFill>
                <a:latin typeface="Fira Code"/>
              </a:rPr>
              <a:t># This is a clean comment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9700" y="4219575"/>
            <a:ext cx="315468" cy="19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B923C"/>
                </a:solidFill>
                <a:latin typeface="Fira Code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63100" y="4219575"/>
            <a:ext cx="315468" cy="19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B923C"/>
                </a:solidFill>
                <a:latin typeface="Fira Code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485775"/>
            <a:ext cx="11031378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Python Syntax &amp; Indentation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CE11E4B-A028-9F95-ACB4-3DFB14D35D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4063365"/>
            <a:ext cx="4884843" cy="5029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67000"/>
            <a:ext cx="5343525" cy="2276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667000"/>
            <a:ext cx="5343525" cy="2276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952875"/>
            <a:ext cx="4791075" cy="523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3943350"/>
            <a:ext cx="4791075" cy="723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66737"/>
            <a:ext cx="32385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2943225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Poppins SemiBold"/>
              </a:rPr>
              <a:t>Creating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371850"/>
            <a:ext cx="47910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Variables store data values in memory. They are created instantly upon assigning a value with the = operator.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2943225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Poppins SemiBold"/>
              </a:rPr>
              <a:t>Naming Rules &amp; Convention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3371850"/>
            <a:ext cx="47910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Names are case-sensitive, must start with a letter or underscore, and use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snake_case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for multiple words.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4475" y="4124325"/>
            <a:ext cx="265164" cy="19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B923C"/>
                </a:solidFill>
                <a:latin typeface="Fira Code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6474" y="4111785"/>
            <a:ext cx="596265" cy="19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4ADE80"/>
                </a:solidFill>
                <a:latin typeface="Fira Code"/>
              </a:rPr>
              <a:t>"Alice"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6675" y="4124325"/>
            <a:ext cx="304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1899" y="4086225"/>
            <a:ext cx="228599" cy="19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B923C"/>
                </a:solidFill>
                <a:latin typeface="Fira Code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499" y="4101307"/>
            <a:ext cx="733425" cy="19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 dirty="0">
                <a:solidFill>
                  <a:srgbClr val="64748B"/>
                </a:solidFill>
                <a:latin typeface="Fira Code"/>
              </a:rPr>
              <a:t># Good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6900" y="4114800"/>
            <a:ext cx="76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9300" y="4114800"/>
            <a:ext cx="830580" cy="19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 dirty="0">
                <a:solidFill>
                  <a:srgbClr val="64748B"/>
                </a:solidFill>
                <a:latin typeface="Fira Code"/>
              </a:rPr>
              <a:t># Valid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3687" y="4422615"/>
            <a:ext cx="4591050" cy="193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 dirty="0">
                <a:solidFill>
                  <a:srgbClr val="64748B"/>
                </a:solidFill>
                <a:latin typeface="Fira Code"/>
              </a:rPr>
              <a:t># 2user = 10 # Invalid!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75" y="485775"/>
            <a:ext cx="1112139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Variables &amp; Naming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66737"/>
            <a:ext cx="285750" cy="3238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147887"/>
          <a:ext cx="11010899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6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0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4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9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ACC15"/>
                          </a:solidFill>
                          <a:latin typeface="Poppins SemiBold"/>
                        </a:rPr>
                        <a:t>Data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ACC15"/>
                          </a:solidFill>
                          <a:latin typeface="Poppins SemiBold"/>
                        </a:rPr>
                        <a:t>Type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ACC15"/>
                          </a:solidFill>
                          <a:latin typeface="Poppins SemiBold"/>
                        </a:rPr>
                        <a:t>Example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ACC15"/>
                          </a:solidFill>
                          <a:latin typeface="Poppins SemiBold"/>
                        </a:rPr>
                        <a:t>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Integer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42, -7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Whole positive or negative numbers without decimals.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Float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float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3.14159, -0.5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Real numbers containing decimal points.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String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str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"Hello Python"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Sequence of textual characters wrapped in quotes.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Boolean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bool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True, 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Truth values representing logical binary conditions.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List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list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[1, "apple", True]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Ordered, mutable collection of arbitrary items.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690812"/>
            <a:ext cx="15065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97137" y="2690812"/>
            <a:ext cx="15902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87365" y="2690812"/>
            <a:ext cx="25448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32177" y="2690812"/>
            <a:ext cx="536927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550" y="3243262"/>
            <a:ext cx="150658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97137" y="3243262"/>
            <a:ext cx="15902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87365" y="3243262"/>
            <a:ext cx="25448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2177" y="3243262"/>
            <a:ext cx="536927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0550" y="3795712"/>
            <a:ext cx="150658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97137" y="3795712"/>
            <a:ext cx="15902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87365" y="3795712"/>
            <a:ext cx="25448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2177" y="3795712"/>
            <a:ext cx="536927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0550" y="4348162"/>
            <a:ext cx="150658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97137" y="4348162"/>
            <a:ext cx="15902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87365" y="4348162"/>
            <a:ext cx="25448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2177" y="4348162"/>
            <a:ext cx="536927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0550" y="4900612"/>
            <a:ext cx="150658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097137" y="4900612"/>
            <a:ext cx="15902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87365" y="4900612"/>
            <a:ext cx="25448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32177" y="4900612"/>
            <a:ext cx="536927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1075" y="485775"/>
            <a:ext cx="1116139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Core Built-In Data Types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05851" y="2533650"/>
            <a:ext cx="2380297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oppins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137" y="3429000"/>
            <a:ext cx="23717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Input &amp; Output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62237"/>
            <a:ext cx="5343525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662237"/>
            <a:ext cx="5343525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66737"/>
            <a:ext cx="36195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2938462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Poppins SemiBold"/>
              </a:rPr>
              <a:t>Output with print()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367087"/>
            <a:ext cx="47910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Inter"/>
              </a:rPr>
              <a:t>Prints text or evaluation results to the console. Supports string formatting with f-strings.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2938462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Poppins SemiBold"/>
              </a:rPr>
              <a:t>Input with input()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3367087"/>
            <a:ext cx="47910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Captures user keyboard input as a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string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. Convert types explicitly using functions like int().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4110037"/>
            <a:ext cx="4918710" cy="205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75"/>
              </a:lnSpc>
            </a:pPr>
            <a:r>
              <a:rPr lang="en-IN" sz="1400" dirty="0">
                <a:solidFill>
                  <a:schemeClr val="bg1"/>
                </a:solidFill>
              </a:rPr>
              <a:t>name = "Bob" score = 95 print(</a:t>
            </a:r>
            <a:r>
              <a:rPr lang="en-IN" sz="1400" dirty="0" err="1">
                <a:solidFill>
                  <a:schemeClr val="bg1"/>
                </a:solidFill>
              </a:rPr>
              <a:t>f"User</a:t>
            </a:r>
            <a:r>
              <a:rPr lang="en-IN" sz="1400" dirty="0">
                <a:solidFill>
                  <a:schemeClr val="bg1"/>
                </a:solidFill>
              </a:rPr>
              <a:t> {name} scored {score}")</a:t>
            </a:r>
            <a:endParaRPr sz="1400" b="0" i="0" u="none" dirty="0">
              <a:solidFill>
                <a:schemeClr val="bg1"/>
              </a:solidFill>
              <a:latin typeface="Fira Code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43675" y="4119562"/>
            <a:ext cx="4848225" cy="425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75"/>
              </a:lnSpc>
            </a:pPr>
            <a:r>
              <a:rPr lang="en-IN" sz="1400" dirty="0" err="1">
                <a:solidFill>
                  <a:schemeClr val="bg1"/>
                </a:solidFill>
              </a:rPr>
              <a:t>user_str</a:t>
            </a:r>
            <a:r>
              <a:rPr lang="en-IN" sz="1400" dirty="0">
                <a:solidFill>
                  <a:schemeClr val="bg1"/>
                </a:solidFill>
              </a:rPr>
              <a:t> = input("Enter age: ") age = int(</a:t>
            </a:r>
            <a:r>
              <a:rPr lang="en-IN" sz="1400" dirty="0" err="1">
                <a:solidFill>
                  <a:schemeClr val="bg1"/>
                </a:solidFill>
              </a:rPr>
              <a:t>user_str</a:t>
            </a:r>
            <a:r>
              <a:rPr lang="en-IN" sz="1400" dirty="0">
                <a:solidFill>
                  <a:schemeClr val="bg1"/>
                </a:solidFill>
              </a:rPr>
              <a:t>) </a:t>
            </a:r>
            <a:r>
              <a:rPr lang="en-IN" sz="1400" i="1" dirty="0">
                <a:solidFill>
                  <a:schemeClr val="bg1"/>
                </a:solidFill>
              </a:rPr>
              <a:t># Cast string to int</a:t>
            </a:r>
            <a:endParaRPr sz="1400" b="0" i="1" u="none" dirty="0">
              <a:solidFill>
                <a:schemeClr val="bg1"/>
              </a:solidFill>
              <a:latin typeface="Fira Code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7275" y="485775"/>
            <a:ext cx="1108138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Input &amp; Output Functions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95F3B0F-FCA6-C8D3-D4B7-1E76A7D347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010892"/>
            <a:ext cx="4930567" cy="6629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68DEB08-53BB-768E-117C-71FCAFFB74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3981697"/>
            <a:ext cx="4854361" cy="7011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95850" y="2533650"/>
            <a:ext cx="24003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oppins"/>
              </a:rP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1087" y="3429000"/>
            <a:ext cx="24098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Control Flow: Conditionals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76512"/>
            <a:ext cx="5343525" cy="723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95487"/>
            <a:ext cx="534352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66737"/>
            <a:ext cx="285750" cy="323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995487"/>
            <a:ext cx="534352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Conditionals execute specific code blocks based on whether logical statements evaluate to True or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0650" y="2747962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9250" y="2747962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3650" y="2747962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8450" y="2747962"/>
            <a:ext cx="381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5650" y="2747962"/>
            <a:ext cx="762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ADE80"/>
                </a:solidFill>
                <a:latin typeface="Fira Code"/>
              </a:rPr>
              <a:t>"Grade: A"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0050" y="2747962"/>
            <a:ext cx="304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elif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850" y="2747962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2947987"/>
            <a:ext cx="381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50" y="2947987"/>
            <a:ext cx="762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ADE80"/>
                </a:solidFill>
                <a:latin typeface="Fira Code"/>
              </a:rPr>
              <a:t>"Grade: B"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2650" y="2947987"/>
            <a:ext cx="304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else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9850" y="2947987"/>
            <a:ext cx="381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7050" y="2947987"/>
            <a:ext cx="762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ADE80"/>
                </a:solidFill>
                <a:latin typeface="Fira Code"/>
              </a:rPr>
              <a:t>"Grade: C"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2005012"/>
            <a:ext cx="5324475" cy="3600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81075" y="485775"/>
            <a:ext cx="1116139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Conditional Logic (if-elif-else)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B77BB09-7427-ADA1-8862-592B739B36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1" y="2614567"/>
            <a:ext cx="5334000" cy="11573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81300"/>
            <a:ext cx="5343525" cy="2047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781300"/>
            <a:ext cx="5343525" cy="2047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829050"/>
            <a:ext cx="4791075" cy="723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3829050"/>
            <a:ext cx="4791075" cy="723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66737"/>
            <a:ext cx="409575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057525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Poppins SemiBold"/>
              </a:rPr>
              <a:t>Comparison Operators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486150"/>
            <a:ext cx="47910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Compare two operands and return boolean flags.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057525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Poppins SemiBold"/>
              </a:rPr>
              <a:t>Logical Operators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3486150"/>
            <a:ext cx="47910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Combine multiple conditional expressions together.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0675" y="4000500"/>
            <a:ext cx="762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>
                <a:solidFill>
                  <a:srgbClr val="64748B"/>
                </a:solidFill>
                <a:latin typeface="Fira Code"/>
              </a:rPr>
              <a:t># Equal 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275" y="4000500"/>
            <a:ext cx="1066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>
                <a:solidFill>
                  <a:srgbClr val="64748B"/>
                </a:solidFill>
                <a:latin typeface="Fira Code"/>
              </a:rPr>
              <a:t># Not equal 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40005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>
                <a:solidFill>
                  <a:srgbClr val="64748B"/>
                </a:solidFill>
                <a:latin typeface="Fira Code"/>
              </a:rPr>
              <a:t># Greater than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1675" y="4200525"/>
            <a:ext cx="1524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 dirty="0">
                <a:solidFill>
                  <a:srgbClr val="64748B"/>
                </a:solidFill>
                <a:latin typeface="Fira Code"/>
              </a:rPr>
              <a:t># Less than or equal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4000500"/>
            <a:ext cx="2286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>
                <a:solidFill>
                  <a:srgbClr val="64748B"/>
                </a:solidFill>
                <a:latin typeface="Fira Code"/>
              </a:rPr>
              <a:t># Both conditions must be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1700" y="4000500"/>
            <a:ext cx="228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3700" y="4000500"/>
            <a:ext cx="4191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 dirty="0">
                <a:solidFill>
                  <a:srgbClr val="64748B"/>
                </a:solidFill>
                <a:latin typeface="Fira Code"/>
              </a:rPr>
              <a:t># At least one condition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6900" y="4200525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485775"/>
            <a:ext cx="11031378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Operators for Logic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91BE05E-7241-22FC-81CE-6F463F19A6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848070"/>
            <a:ext cx="4884843" cy="723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04C2A8-5B82-CCF3-18AE-CE9F231309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8221" y="3855659"/>
            <a:ext cx="4861981" cy="7087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75847" y="2533650"/>
            <a:ext cx="244030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oppins"/>
              </a:rP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1600" y="3429000"/>
            <a:ext cx="1828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Control Flow: Loops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4381500"/>
            <a:ext cx="10248900" cy="523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66737"/>
            <a:ext cx="323850" cy="3238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2371725"/>
            <a:ext cx="11029950" cy="600075"/>
          </a:xfrm>
          <a:prstGeom prst="roundRect">
            <a:avLst>
              <a:gd name="adj" fmla="val 1587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525" y="2543175"/>
            <a:ext cx="10267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Sequence Iteration: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A for loop iterates through items in sequences like lists, tuples, or strings.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3124200"/>
            <a:ext cx="11029950" cy="600075"/>
          </a:xfrm>
          <a:prstGeom prst="roundRect">
            <a:avLst>
              <a:gd name="adj" fmla="val 1587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525" y="3295650"/>
            <a:ext cx="10267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The range() Function: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Generates sequence of numbers on the fly (e.g., range(5) yields 0 through 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1025" y="3876675"/>
            <a:ext cx="11029950" cy="1209675"/>
          </a:xfrm>
          <a:prstGeom prst="roundRect">
            <a:avLst>
              <a:gd name="adj" fmla="val 787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2525" y="4048125"/>
            <a:ext cx="1026795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Syntax Example: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2962275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7147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5076825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586037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3338512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4090987"/>
            <a:ext cx="238125" cy="2000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9175" y="485775"/>
            <a:ext cx="1112139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Iteration with For Loops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D0A85B1-C93C-D719-6EC6-400C929F66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464" y="4409575"/>
            <a:ext cx="10516511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32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62250"/>
            <a:ext cx="5343525" cy="2085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762250"/>
            <a:ext cx="5343525" cy="2085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048125"/>
            <a:ext cx="4791075" cy="523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3810000"/>
            <a:ext cx="4791075" cy="723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66737"/>
            <a:ext cx="32385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038475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Poppins SemiBold"/>
              </a:rPr>
              <a:t>The while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467100"/>
            <a:ext cx="47910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Repeats execution continuously as long as its target condition remains True.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038475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Poppins SemiBold"/>
              </a:rPr>
              <a:t>Loop Control Keywords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3467100"/>
            <a:ext cx="47910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Keywords to modify loop flow dynamically.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4219575"/>
            <a:ext cx="76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9275" y="4219575"/>
            <a:ext cx="381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while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275" y="4219575"/>
            <a:ext cx="76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0875" y="4219575"/>
            <a:ext cx="381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Fira Code"/>
              </a:rPr>
              <a:t>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7275" y="4219575"/>
            <a:ext cx="76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3981450"/>
            <a:ext cx="2286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>
                <a:solidFill>
                  <a:srgbClr val="64748B"/>
                </a:solidFill>
                <a:latin typeface="Fira Code"/>
              </a:rPr>
              <a:t># break exits loop immediately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5900" y="3981450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0" y="3981450"/>
            <a:ext cx="76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44100" y="3981450"/>
            <a:ext cx="381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break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3700" y="3981450"/>
            <a:ext cx="3733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>
                <a:solidFill>
                  <a:srgbClr val="64748B"/>
                </a:solidFill>
                <a:latin typeface="Fira Code"/>
              </a:rPr>
              <a:t># continue skips to next iteration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4181475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1700" y="4181475"/>
            <a:ext cx="76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2700" y="4181475"/>
            <a:ext cx="76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1300" y="4181475"/>
            <a:ext cx="609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continue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175" y="485775"/>
            <a:ext cx="1112139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While Loops &amp; Loop Controls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6492CCD-C5D3-8CA9-88AA-3A4718E09A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586" y="4075725"/>
            <a:ext cx="4892464" cy="50296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EE8A6D5-4988-7A84-EB28-DDCB192479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3800793"/>
            <a:ext cx="4892464" cy="7778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80848" y="2533650"/>
            <a:ext cx="2430303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oppins"/>
              </a:rP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76787" y="3429000"/>
            <a:ext cx="26384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Python List Comprehensions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66987"/>
            <a:ext cx="5343525" cy="923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95487"/>
            <a:ext cx="534352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66737"/>
            <a:ext cx="285750" cy="323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995487"/>
            <a:ext cx="5343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List comprehensions offer a concise, readable syntax for creating new lists based on existing iterables.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2738437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>
                <a:solidFill>
                  <a:srgbClr val="64748B"/>
                </a:solidFill>
                <a:latin typeface="Fira Code"/>
              </a:rPr>
              <a:t># Standard For Loop (3 lines)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7650" y="2738437"/>
            <a:ext cx="228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4850" y="2738437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3450" y="2738437"/>
            <a:ext cx="381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Fira Code"/>
              </a:rPr>
              <a:t>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650" y="2738437"/>
            <a:ext cx="76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50" y="2938462"/>
            <a:ext cx="457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Fira Code"/>
              </a:rPr>
              <a:t>append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2650" y="2938462"/>
            <a:ext cx="76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1250" y="2938462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1" u="none">
                <a:solidFill>
                  <a:srgbClr val="64748B"/>
                </a:solidFill>
                <a:latin typeface="Fira Code"/>
              </a:rPr>
              <a:t># List Comprehension (1 line)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" y="3138487"/>
            <a:ext cx="76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3138487"/>
            <a:ext cx="228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5450" y="3138487"/>
            <a:ext cx="152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Fira Code SemiBold"/>
              </a:rPr>
              <a:t>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3138487"/>
            <a:ext cx="381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38BDF8"/>
                </a:solidFill>
                <a:latin typeface="Fira Code"/>
              </a:rPr>
              <a:t>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1250" y="3138487"/>
            <a:ext cx="76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B923C"/>
                </a:solidFill>
                <a:latin typeface="Fira Code"/>
              </a:rPr>
              <a:t>5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2005012"/>
            <a:ext cx="5324475" cy="3600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1075" y="485775"/>
            <a:ext cx="1116139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Elegant List Comprehensions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E1C06E7-1BFF-0978-B805-7714AF1A95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694" y="2566987"/>
            <a:ext cx="5380186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0785" y="2533650"/>
            <a:ext cx="3430428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oppins"/>
              </a:rPr>
              <a:t>Practical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10075" y="3429000"/>
            <a:ext cx="33718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1-Hour Hands-On Coding Challenges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28887"/>
            <a:ext cx="3524250" cy="2552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28887"/>
            <a:ext cx="3524250" cy="255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528887"/>
            <a:ext cx="3524250" cy="2552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66737"/>
            <a:ext cx="409575" cy="323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328987"/>
            <a:ext cx="32004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Poppins SemiBold"/>
              </a:rPr>
              <a:t>Ex 1: User Profile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757612"/>
            <a:ext cx="3048000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Prompt user for name and age, compute target birth year, and print a formatted greeting message using input() and print().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328987"/>
            <a:ext cx="32004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Poppins SemiBold"/>
              </a:rPr>
              <a:t>Ex 2: Grade Calculator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757612"/>
            <a:ext cx="3048000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Ask for numerical score input and return letter grade using an if-elif-else conditional block with validation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4850" y="3328987"/>
            <a:ext cx="32004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Poppins SemiBold"/>
              </a:rPr>
              <a:t>Ex 3: List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4850" y="3757612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Convert a multi-line loop that filters even numbers from a list into a single-line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list comprehension with condition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833687"/>
            <a:ext cx="3429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2833687"/>
            <a:ext cx="2286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4850" y="2833687"/>
            <a:ext cx="3048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04900" y="485775"/>
            <a:ext cx="11031378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Daily Practical Lab Tasks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337" y="2314575"/>
            <a:ext cx="6791325" cy="447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485775"/>
            <a:ext cx="11581447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38BDF8"/>
                </a:solidFill>
                <a:latin typeface="Poppins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543050"/>
            <a:ext cx="11029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Thank you for participating in today's Python workshop!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757</Words>
  <Application>Microsoft Office PowerPoint</Application>
  <PresentationFormat>Widescreen</PresentationFormat>
  <Paragraphs>154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Fira Code</vt:lpstr>
      <vt:lpstr>Fira Code SemiBold</vt:lpstr>
      <vt:lpstr>Inter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pravin kumar</cp:lastModifiedBy>
  <cp:revision>8</cp:revision>
  <dcterms:created xsi:type="dcterms:W3CDTF">2013-01-27T09:14:16Z</dcterms:created>
  <dcterms:modified xsi:type="dcterms:W3CDTF">2026-08-05T09:06:01Z</dcterms:modified>
  <cp:category/>
</cp:coreProperties>
</file>